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p:spPr>
      </p:sp>
      <p:sp>
        <p:nvSpPr>
          <p:cNvPr id="3" name="Shape 1"/>
          <p:cNvSpPr/>
          <p:nvPr/>
        </p:nvSpPr>
        <p:spPr>
          <a:xfrm>
            <a:off x="0" y="4297680"/>
            <a:ext cx="12161520" cy="54864"/>
          </a:xfrm>
          <a:prstGeom prst="rect">
            <a:avLst/>
          </a:prstGeom>
          <a:solidFill>
            <a:srgbClr val="B85042"/>
          </a:solidFill>
          <a:ln/>
        </p:spPr>
      </p:sp>
      <p:sp>
        <p:nvSpPr>
          <p:cNvPr id="4" name="Text 2"/>
          <p:cNvSpPr txBox="1"/>
          <p:nvPr/>
        </p:nvSpPr>
        <p:spPr>
          <a:xfrm>
            <a:off x="731520" y="237744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KenyaBidder</a:t>
            </a:r>
            <a:endParaRPr lang="en-US" sz="5400" dirty="0"/>
          </a:p>
        </p:txBody>
      </p:sp>
      <p:sp>
        <p:nvSpPr>
          <p:cNvPr id="5" name="Text 3"/>
          <p:cNvSpPr txBox="1"/>
          <p:nvPr/>
        </p:nvSpPr>
        <p:spPr>
          <a:xfrm>
            <a:off x="777240" y="3429000"/>
            <a:ext cx="105156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AI Auction Matchmaking Ecosystem</a:t>
            </a:r>
            <a:endParaRPr lang="en-US" sz="2200" dirty="0"/>
          </a:p>
        </p:txBody>
      </p:sp>
      <p:sp>
        <p:nvSpPr>
          <p:cNvPr id="6" name="Text 4"/>
          <p:cNvSpPr txBox="1"/>
          <p:nvPr/>
        </p:nvSpPr>
        <p:spPr>
          <a:xfrm>
            <a:off x="777240" y="4480560"/>
            <a:ext cx="10515600" cy="457200"/>
          </a:xfrm>
          <a:prstGeom prst="rect">
            <a:avLst/>
          </a:prstGeom>
          <a:noFill/>
          <a:ln/>
        </p:spPr>
        <p:txBody>
          <a:bodyPr wrap="square" lIns="0" tIns="0" rIns="0" bIns="0" rtlCol="0" anchor="ctr"/>
          <a:lstStyle/>
          <a:p>
            <a:pPr indent="0" marL="0">
              <a:buNone/>
            </a:pPr>
            <a:r>
              <a:rPr lang="en-US" sz="1400" dirty="0">
                <a:solidFill>
                  <a:srgbClr val="9FB3E8"/>
                </a:solidFill>
                <a:latin typeface="Calibri" pitchFamily="34" charset="0"/>
                <a:ea typeface="Calibri" pitchFamily="34" charset="-122"/>
                <a:cs typeface="Calibri" pitchFamily="34" charset="-120"/>
              </a:rPr>
              <a:t>Full Specification, Architecture &amp; Wireframes  —  Matchmaking-First Prototype (v2.1)</a:t>
            </a:r>
            <a:endParaRPr lang="en-US" sz="1400" dirty="0"/>
          </a:p>
        </p:txBody>
      </p:sp>
      <p:sp>
        <p:nvSpPr>
          <p:cNvPr id="7" name="Text 5"/>
          <p:cNvSpPr txBox="1"/>
          <p:nvPr/>
        </p:nvSpPr>
        <p:spPr>
          <a:xfrm>
            <a:off x="777240" y="6035040"/>
            <a:ext cx="10515600" cy="365760"/>
          </a:xfrm>
          <a:prstGeom prst="rect">
            <a:avLst/>
          </a:prstGeom>
          <a:noFill/>
          <a:ln/>
        </p:spPr>
        <p:txBody>
          <a:bodyPr wrap="square" lIns="0" tIns="0" rIns="0" bIns="0" rtlCol="0" anchor="ctr"/>
          <a:lstStyle/>
          <a:p>
            <a:pPr indent="0" marL="0">
              <a:buNone/>
            </a:pPr>
            <a:r>
              <a:rPr lang="en-US" sz="1100" dirty="0">
                <a:solidFill>
                  <a:srgbClr val="7C93C9"/>
                </a:solidFill>
                <a:latin typeface="Calibri" pitchFamily="34" charset="0"/>
                <a:ea typeface="Calibri" pitchFamily="34" charset="-122"/>
                <a:cs typeface="Calibri" pitchFamily="34" charset="-120"/>
              </a:rPr>
              <a:t>Seller Agents  •  Bidder Agents  •  Multi-Algorithm Auctions  •  Omnichannel  •  No Payment Module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What This Deck Covers</a:t>
            </a:r>
            <a:endParaRPr lang="en-US" sz="2800" dirty="0"/>
          </a:p>
        </p:txBody>
      </p:sp>
      <p:sp>
        <p:nvSpPr>
          <p:cNvPr id="3" name="Shape 1"/>
          <p:cNvSpPr/>
          <p:nvPr/>
        </p:nvSpPr>
        <p:spPr>
          <a:xfrm>
            <a:off x="457200" y="1691640"/>
            <a:ext cx="5486400" cy="804672"/>
          </a:xfrm>
          <a:prstGeom prst="rect">
            <a:avLst/>
          </a:prstGeom>
          <a:solidFill>
            <a:srgbClr val="F4F6FB"/>
          </a:solidFill>
          <a:ln w="12700">
            <a:solidFill>
              <a:srgbClr val="F4F6FB"/>
            </a:solidFill>
            <a:prstDash val="solid"/>
          </a:ln>
        </p:spPr>
      </p:sp>
      <p:sp>
        <p:nvSpPr>
          <p:cNvPr id="4" name="Text 2"/>
          <p:cNvSpPr txBox="1"/>
          <p:nvPr/>
        </p:nvSpPr>
        <p:spPr>
          <a:xfrm>
            <a:off x="603504" y="17465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01</a:t>
            </a:r>
            <a:endParaRPr lang="en-US" sz="1800" dirty="0"/>
          </a:p>
        </p:txBody>
      </p:sp>
      <p:sp>
        <p:nvSpPr>
          <p:cNvPr id="5" name="Text 3"/>
          <p:cNvSpPr txBox="1"/>
          <p:nvPr/>
        </p:nvSpPr>
        <p:spPr>
          <a:xfrm>
            <a:off x="1280160" y="17465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Product &amp; Personas</a:t>
            </a:r>
            <a:endParaRPr lang="en-US" sz="1200" dirty="0"/>
          </a:p>
        </p:txBody>
      </p:sp>
      <p:sp>
        <p:nvSpPr>
          <p:cNvPr id="6" name="Text 4"/>
          <p:cNvSpPr txBox="1"/>
          <p:nvPr/>
        </p:nvSpPr>
        <p:spPr>
          <a:xfrm>
            <a:off x="1280160" y="20574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The core loop, who it's for, what's in and out of scope</a:t>
            </a:r>
            <a:endParaRPr lang="en-US" sz="870" dirty="0"/>
          </a:p>
        </p:txBody>
      </p:sp>
      <p:sp>
        <p:nvSpPr>
          <p:cNvPr id="7" name="Shape 5"/>
          <p:cNvSpPr/>
          <p:nvPr/>
        </p:nvSpPr>
        <p:spPr>
          <a:xfrm>
            <a:off x="6217920" y="1691640"/>
            <a:ext cx="5486400" cy="804672"/>
          </a:xfrm>
          <a:prstGeom prst="rect">
            <a:avLst/>
          </a:prstGeom>
          <a:solidFill>
            <a:srgbClr val="F4F6FB"/>
          </a:solidFill>
          <a:ln w="12700">
            <a:solidFill>
              <a:srgbClr val="F4F6FB"/>
            </a:solidFill>
            <a:prstDash val="solid"/>
          </a:ln>
        </p:spPr>
      </p:sp>
      <p:sp>
        <p:nvSpPr>
          <p:cNvPr id="8" name="Text 6"/>
          <p:cNvSpPr txBox="1"/>
          <p:nvPr/>
        </p:nvSpPr>
        <p:spPr>
          <a:xfrm>
            <a:off x="6364224" y="17465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02</a:t>
            </a:r>
            <a:endParaRPr lang="en-US" sz="1800" dirty="0"/>
          </a:p>
        </p:txBody>
      </p:sp>
      <p:sp>
        <p:nvSpPr>
          <p:cNvPr id="9" name="Text 7"/>
          <p:cNvSpPr txBox="1"/>
          <p:nvPr/>
        </p:nvSpPr>
        <p:spPr>
          <a:xfrm>
            <a:off x="7040880" y="17465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Monetization</a:t>
            </a:r>
            <a:endParaRPr lang="en-US" sz="1200" dirty="0"/>
          </a:p>
        </p:txBody>
      </p:sp>
      <p:sp>
        <p:nvSpPr>
          <p:cNvPr id="10" name="Text 8"/>
          <p:cNvSpPr txBox="1"/>
          <p:nvPr/>
        </p:nvSpPr>
        <p:spPr>
          <a:xfrm>
            <a:off x="7040880" y="20574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Seller subscriptions, free buyer access, and the success-fee path</a:t>
            </a:r>
            <a:endParaRPr lang="en-US" sz="870" dirty="0"/>
          </a:p>
        </p:txBody>
      </p:sp>
      <p:sp>
        <p:nvSpPr>
          <p:cNvPr id="11" name="Shape 9"/>
          <p:cNvSpPr/>
          <p:nvPr/>
        </p:nvSpPr>
        <p:spPr>
          <a:xfrm>
            <a:off x="457200" y="2606040"/>
            <a:ext cx="5486400" cy="804672"/>
          </a:xfrm>
          <a:prstGeom prst="rect">
            <a:avLst/>
          </a:prstGeom>
          <a:solidFill>
            <a:srgbClr val="F4F6FB"/>
          </a:solidFill>
          <a:ln w="12700">
            <a:solidFill>
              <a:srgbClr val="F4F6FB"/>
            </a:solidFill>
            <a:prstDash val="solid"/>
          </a:ln>
        </p:spPr>
      </p:sp>
      <p:sp>
        <p:nvSpPr>
          <p:cNvPr id="12" name="Text 10"/>
          <p:cNvSpPr txBox="1"/>
          <p:nvPr/>
        </p:nvSpPr>
        <p:spPr>
          <a:xfrm>
            <a:off x="603504" y="26609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03</a:t>
            </a:r>
            <a:endParaRPr lang="en-US" sz="1800" dirty="0"/>
          </a:p>
        </p:txBody>
      </p:sp>
      <p:sp>
        <p:nvSpPr>
          <p:cNvPr id="13" name="Text 11"/>
          <p:cNvSpPr txBox="1"/>
          <p:nvPr/>
        </p:nvSpPr>
        <p:spPr>
          <a:xfrm>
            <a:off x="1280160" y="26609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Architecture</a:t>
            </a:r>
            <a:endParaRPr lang="en-US" sz="1200" dirty="0"/>
          </a:p>
        </p:txBody>
      </p:sp>
      <p:sp>
        <p:nvSpPr>
          <p:cNvPr id="14" name="Text 12"/>
          <p:cNvSpPr txBox="1"/>
          <p:nvPr/>
        </p:nvSpPr>
        <p:spPr>
          <a:xfrm>
            <a:off x="1280160" y="29718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LLM reasons, Harness executes, MCP connects — and why that split matters</a:t>
            </a:r>
            <a:endParaRPr lang="en-US" sz="870" dirty="0"/>
          </a:p>
        </p:txBody>
      </p:sp>
      <p:sp>
        <p:nvSpPr>
          <p:cNvPr id="15" name="Shape 13"/>
          <p:cNvSpPr/>
          <p:nvPr/>
        </p:nvSpPr>
        <p:spPr>
          <a:xfrm>
            <a:off x="6217920" y="2606040"/>
            <a:ext cx="5486400" cy="804672"/>
          </a:xfrm>
          <a:prstGeom prst="rect">
            <a:avLst/>
          </a:prstGeom>
          <a:solidFill>
            <a:srgbClr val="F4F6FB"/>
          </a:solidFill>
          <a:ln w="12700">
            <a:solidFill>
              <a:srgbClr val="F4F6FB"/>
            </a:solidFill>
            <a:prstDash val="solid"/>
          </a:ln>
        </p:spPr>
      </p:sp>
      <p:sp>
        <p:nvSpPr>
          <p:cNvPr id="16" name="Text 14"/>
          <p:cNvSpPr txBox="1"/>
          <p:nvPr/>
        </p:nvSpPr>
        <p:spPr>
          <a:xfrm>
            <a:off x="6364224" y="26609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04</a:t>
            </a:r>
            <a:endParaRPr lang="en-US" sz="1800" dirty="0"/>
          </a:p>
        </p:txBody>
      </p:sp>
      <p:sp>
        <p:nvSpPr>
          <p:cNvPr id="17" name="Text 15"/>
          <p:cNvSpPr txBox="1"/>
          <p:nvPr/>
        </p:nvSpPr>
        <p:spPr>
          <a:xfrm>
            <a:off x="7040880" y="26609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Auction Mechanics</a:t>
            </a:r>
            <a:endParaRPr lang="en-US" sz="1200" dirty="0"/>
          </a:p>
        </p:txBody>
      </p:sp>
      <p:sp>
        <p:nvSpPr>
          <p:cNvPr id="18" name="Text 16"/>
          <p:cNvSpPr txBox="1"/>
          <p:nvPr/>
        </p:nvSpPr>
        <p:spPr>
          <a:xfrm>
            <a:off x="7040880" y="29718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How strategy and execution adapt across English, Dutch, Sealed-Bid &amp; more</a:t>
            </a:r>
            <a:endParaRPr lang="en-US" sz="870" dirty="0"/>
          </a:p>
        </p:txBody>
      </p:sp>
      <p:sp>
        <p:nvSpPr>
          <p:cNvPr id="19" name="Shape 17"/>
          <p:cNvSpPr/>
          <p:nvPr/>
        </p:nvSpPr>
        <p:spPr>
          <a:xfrm>
            <a:off x="457200" y="3520440"/>
            <a:ext cx="5486400" cy="804672"/>
          </a:xfrm>
          <a:prstGeom prst="rect">
            <a:avLst/>
          </a:prstGeom>
          <a:solidFill>
            <a:srgbClr val="F4F6FB"/>
          </a:solidFill>
          <a:ln w="12700">
            <a:solidFill>
              <a:srgbClr val="F4F6FB"/>
            </a:solidFill>
            <a:prstDash val="solid"/>
          </a:ln>
        </p:spPr>
      </p:sp>
      <p:sp>
        <p:nvSpPr>
          <p:cNvPr id="20" name="Text 18"/>
          <p:cNvSpPr txBox="1"/>
          <p:nvPr/>
        </p:nvSpPr>
        <p:spPr>
          <a:xfrm>
            <a:off x="603504" y="35753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05</a:t>
            </a:r>
            <a:endParaRPr lang="en-US" sz="1800" dirty="0"/>
          </a:p>
        </p:txBody>
      </p:sp>
      <p:sp>
        <p:nvSpPr>
          <p:cNvPr id="21" name="Text 19"/>
          <p:cNvSpPr txBox="1"/>
          <p:nvPr/>
        </p:nvSpPr>
        <p:spPr>
          <a:xfrm>
            <a:off x="1280160" y="35753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Matching &amp; Trust</a:t>
            </a:r>
            <a:endParaRPr lang="en-US" sz="1200" dirty="0"/>
          </a:p>
        </p:txBody>
      </p:sp>
      <p:sp>
        <p:nvSpPr>
          <p:cNvPr id="22" name="Text 20"/>
          <p:cNvSpPr txBox="1"/>
          <p:nvPr/>
        </p:nvSpPr>
        <p:spPr>
          <a:xfrm>
            <a:off x="1280160" y="38862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Reputation tiers, contact-reveal timing, deterministic + LLM spec matching</a:t>
            </a:r>
            <a:endParaRPr lang="en-US" sz="870" dirty="0"/>
          </a:p>
        </p:txBody>
      </p:sp>
      <p:sp>
        <p:nvSpPr>
          <p:cNvPr id="23" name="Shape 21"/>
          <p:cNvSpPr/>
          <p:nvPr/>
        </p:nvSpPr>
        <p:spPr>
          <a:xfrm>
            <a:off x="6217920" y="3520440"/>
            <a:ext cx="5486400" cy="804672"/>
          </a:xfrm>
          <a:prstGeom prst="rect">
            <a:avLst/>
          </a:prstGeom>
          <a:solidFill>
            <a:srgbClr val="F4F6FB"/>
          </a:solidFill>
          <a:ln w="12700">
            <a:solidFill>
              <a:srgbClr val="F4F6FB"/>
            </a:solidFill>
            <a:prstDash val="solid"/>
          </a:ln>
        </p:spPr>
      </p:sp>
      <p:sp>
        <p:nvSpPr>
          <p:cNvPr id="24" name="Text 22"/>
          <p:cNvSpPr txBox="1"/>
          <p:nvPr/>
        </p:nvSpPr>
        <p:spPr>
          <a:xfrm>
            <a:off x="6364224" y="35753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06</a:t>
            </a:r>
            <a:endParaRPr lang="en-US" sz="1800" dirty="0"/>
          </a:p>
        </p:txBody>
      </p:sp>
      <p:sp>
        <p:nvSpPr>
          <p:cNvPr id="25" name="Text 23"/>
          <p:cNvSpPr txBox="1"/>
          <p:nvPr/>
        </p:nvSpPr>
        <p:spPr>
          <a:xfrm>
            <a:off x="7040880" y="35753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Wireframes</a:t>
            </a:r>
            <a:endParaRPr lang="en-US" sz="1200" dirty="0"/>
          </a:p>
        </p:txBody>
      </p:sp>
      <p:sp>
        <p:nvSpPr>
          <p:cNvPr id="26" name="Text 24"/>
          <p:cNvSpPr txBox="1"/>
          <p:nvPr/>
        </p:nvSpPr>
        <p:spPr>
          <a:xfrm>
            <a:off x="7040880" y="38862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Seller dashboard, live bidding, match confirmation, omnichannel continuity</a:t>
            </a:r>
            <a:endParaRPr lang="en-US" sz="870" dirty="0"/>
          </a:p>
        </p:txBody>
      </p:sp>
      <p:sp>
        <p:nvSpPr>
          <p:cNvPr id="27" name="Shape 25"/>
          <p:cNvSpPr/>
          <p:nvPr/>
        </p:nvSpPr>
        <p:spPr>
          <a:xfrm>
            <a:off x="457200" y="4434840"/>
            <a:ext cx="5486400" cy="804672"/>
          </a:xfrm>
          <a:prstGeom prst="rect">
            <a:avLst/>
          </a:prstGeom>
          <a:solidFill>
            <a:srgbClr val="F4F6FB"/>
          </a:solidFill>
          <a:ln w="12700">
            <a:solidFill>
              <a:srgbClr val="F4F6FB"/>
            </a:solidFill>
            <a:prstDash val="solid"/>
          </a:ln>
        </p:spPr>
      </p:sp>
      <p:sp>
        <p:nvSpPr>
          <p:cNvPr id="28" name="Text 26"/>
          <p:cNvSpPr txBox="1"/>
          <p:nvPr/>
        </p:nvSpPr>
        <p:spPr>
          <a:xfrm>
            <a:off x="603504" y="44897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07</a:t>
            </a:r>
            <a:endParaRPr lang="en-US" sz="1800" dirty="0"/>
          </a:p>
        </p:txBody>
      </p:sp>
      <p:sp>
        <p:nvSpPr>
          <p:cNvPr id="29" name="Text 27"/>
          <p:cNvSpPr txBox="1"/>
          <p:nvPr/>
        </p:nvSpPr>
        <p:spPr>
          <a:xfrm>
            <a:off x="1280160" y="44897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Rollout &amp; KPIs</a:t>
            </a:r>
            <a:endParaRPr lang="en-US" sz="1200" dirty="0"/>
          </a:p>
        </p:txBody>
      </p:sp>
      <p:sp>
        <p:nvSpPr>
          <p:cNvPr id="30" name="Text 28"/>
          <p:cNvSpPr txBox="1"/>
          <p:nvPr/>
        </p:nvSpPr>
        <p:spPr>
          <a:xfrm>
            <a:off x="1280160" y="48006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Four prototyping milestones, sequenced by risk, and how we'll measure success</a:t>
            </a:r>
            <a:endParaRPr lang="en-US" sz="870" dirty="0"/>
          </a:p>
        </p:txBody>
      </p:sp>
      <p:sp>
        <p:nvSpPr>
          <p:cNvPr id="31" name="Shape 29"/>
          <p:cNvSpPr/>
          <p:nvPr/>
        </p:nvSpPr>
        <p:spPr>
          <a:xfrm>
            <a:off x="6217920" y="4434840"/>
            <a:ext cx="5486400" cy="804672"/>
          </a:xfrm>
          <a:prstGeom prst="rect">
            <a:avLst/>
          </a:prstGeom>
          <a:solidFill>
            <a:srgbClr val="F4F6FB"/>
          </a:solidFill>
          <a:ln w="12700">
            <a:solidFill>
              <a:srgbClr val="F4F6FB"/>
            </a:solidFill>
            <a:prstDash val="solid"/>
          </a:ln>
        </p:spPr>
      </p:sp>
      <p:sp>
        <p:nvSpPr>
          <p:cNvPr id="32" name="Text 30"/>
          <p:cNvSpPr txBox="1"/>
          <p:nvPr/>
        </p:nvSpPr>
        <p:spPr>
          <a:xfrm>
            <a:off x="6364224" y="44897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08</a:t>
            </a:r>
            <a:endParaRPr lang="en-US" sz="1800" dirty="0"/>
          </a:p>
        </p:txBody>
      </p:sp>
      <p:sp>
        <p:nvSpPr>
          <p:cNvPr id="33" name="Text 31"/>
          <p:cNvSpPr txBox="1"/>
          <p:nvPr/>
        </p:nvSpPr>
        <p:spPr>
          <a:xfrm>
            <a:off x="7040880" y="44897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Scaling &amp; Cost</a:t>
            </a:r>
            <a:endParaRPr lang="en-US" sz="1200" dirty="0"/>
          </a:p>
        </p:txBody>
      </p:sp>
      <p:sp>
        <p:nvSpPr>
          <p:cNvPr id="34" name="Text 32"/>
          <p:cNvSpPr txBox="1"/>
          <p:nvPr/>
        </p:nvSpPr>
        <p:spPr>
          <a:xfrm>
            <a:off x="7040880" y="48006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Sizing for 200K sellers/1M buyers, and the LLM charging model</a:t>
            </a:r>
            <a:endParaRPr lang="en-US" sz="870" dirty="0"/>
          </a:p>
        </p:txBody>
      </p:sp>
      <p:sp>
        <p:nvSpPr>
          <p:cNvPr id="35" name="Shape 33"/>
          <p:cNvSpPr/>
          <p:nvPr/>
        </p:nvSpPr>
        <p:spPr>
          <a:xfrm>
            <a:off x="457200" y="5349240"/>
            <a:ext cx="5486400" cy="804672"/>
          </a:xfrm>
          <a:prstGeom prst="rect">
            <a:avLst/>
          </a:prstGeom>
          <a:solidFill>
            <a:srgbClr val="F4F6FB"/>
          </a:solidFill>
          <a:ln w="12700">
            <a:solidFill>
              <a:srgbClr val="F4F6FB"/>
            </a:solidFill>
            <a:prstDash val="solid"/>
          </a:ln>
        </p:spPr>
      </p:sp>
      <p:sp>
        <p:nvSpPr>
          <p:cNvPr id="36" name="Text 34"/>
          <p:cNvSpPr txBox="1"/>
          <p:nvPr/>
        </p:nvSpPr>
        <p:spPr>
          <a:xfrm>
            <a:off x="603504" y="5404104"/>
            <a:ext cx="640080" cy="694944"/>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09</a:t>
            </a:r>
            <a:endParaRPr lang="en-US" sz="1800" dirty="0"/>
          </a:p>
        </p:txBody>
      </p:sp>
      <p:sp>
        <p:nvSpPr>
          <p:cNvPr id="37" name="Text 35"/>
          <p:cNvSpPr txBox="1"/>
          <p:nvPr/>
        </p:nvSpPr>
        <p:spPr>
          <a:xfrm>
            <a:off x="1280160" y="5404104"/>
            <a:ext cx="4526280" cy="29260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Implementation Plan</a:t>
            </a:r>
            <a:endParaRPr lang="en-US" sz="1200" dirty="0"/>
          </a:p>
        </p:txBody>
      </p:sp>
      <p:sp>
        <p:nvSpPr>
          <p:cNvPr id="38" name="Text 36"/>
          <p:cNvSpPr txBox="1"/>
          <p:nvPr/>
        </p:nvSpPr>
        <p:spPr>
          <a:xfrm>
            <a:off x="1280160" y="5715000"/>
            <a:ext cx="4526280" cy="411480"/>
          </a:xfrm>
          <a:prstGeom prst="rect">
            <a:avLst/>
          </a:prstGeom>
          <a:noFill/>
          <a:ln/>
        </p:spPr>
        <p:txBody>
          <a:bodyPr wrap="square" lIns="0" tIns="0" rIns="0" bIns="0" rtlCol="0" anchor="ctr"/>
          <a:lstStyle/>
          <a:p>
            <a:pPr indent="0" marL="0">
              <a:buNone/>
            </a:pPr>
            <a:r>
              <a:rPr lang="en-US" sz="870" dirty="0">
                <a:solidFill>
                  <a:srgbClr val="6B7280"/>
                </a:solidFill>
                <a:latin typeface="Calibri" pitchFamily="34" charset="0"/>
                <a:ea typeface="Calibri" pitchFamily="34" charset="-122"/>
                <a:cs typeface="Calibri" pitchFamily="34" charset="-120"/>
              </a:rPr>
              <a:t>Phase-by-phase roadmap with hard gates between phases</a:t>
            </a:r>
            <a:endParaRPr lang="en-US" sz="870" dirty="0"/>
          </a:p>
        </p:txBody>
      </p:sp>
      <p:sp>
        <p:nvSpPr>
          <p:cNvPr id="39" name="Text 37"/>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40" name="Text 38"/>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PRODUCT</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One Agent Per Party, Persistent Across Channels</a:t>
            </a:r>
            <a:endParaRPr lang="en-US" sz="2800" dirty="0"/>
          </a:p>
        </p:txBody>
      </p:sp>
      <p:sp>
        <p:nvSpPr>
          <p:cNvPr id="5" name="Text 3"/>
          <p:cNvSpPr txBox="1"/>
          <p:nvPr/>
        </p:nvSpPr>
        <p:spPr>
          <a:xfrm>
            <a:off x="457200" y="1828800"/>
            <a:ext cx="11247120" cy="1005840"/>
          </a:xfrm>
          <a:prstGeom prst="rect">
            <a:avLst/>
          </a:prstGeom>
          <a:noFill/>
          <a:ln/>
        </p:spPr>
        <p:txBody>
          <a:bodyPr wrap="square" lIns="0" tIns="0" rIns="0" bIns="0" rtlCol="0" anchor="ctr"/>
          <a:lstStyle/>
          <a:p>
            <a:pPr indent="0" marL="0">
              <a:lnSpc>
                <a:spcPct val="125000"/>
              </a:lnSpc>
              <a:buNone/>
            </a:pPr>
            <a:r>
              <a:rPr lang="en-US" sz="1300" dirty="0">
                <a:solidFill>
                  <a:srgbClr val="2B2B2B"/>
                </a:solidFill>
                <a:latin typeface="Calibri" pitchFamily="34" charset="0"/>
                <a:ea typeface="Calibri" pitchFamily="34" charset="-122"/>
                <a:cs typeface="Calibri" pitchFamily="34" charset="-120"/>
              </a:rPr>
              <a:t>KenyaBidder gives both sellers and buyers a persistent, autonomous “avatar” that acts on their behalf according to strategy set once and executed continuously. The platform's job is price discovery and matchmaking, not transaction processing — it runs real auction mechanics to find the right counterparty and price, then hands off a confirmed match for the two parties to settle directly.</a:t>
            </a:r>
            <a:endParaRPr lang="en-US" sz="1300" dirty="0"/>
          </a:p>
        </p:txBody>
      </p:sp>
      <p:sp>
        <p:nvSpPr>
          <p:cNvPr id="6" name="Shape 4"/>
          <p:cNvSpPr/>
          <p:nvPr/>
        </p:nvSpPr>
        <p:spPr>
          <a:xfrm>
            <a:off x="457200" y="3017520"/>
            <a:ext cx="5394960" cy="3200400"/>
          </a:xfrm>
          <a:prstGeom prst="rect">
            <a:avLst/>
          </a:prstGeom>
          <a:solidFill>
            <a:srgbClr val="F4F6FB"/>
          </a:solidFill>
          <a:ln w="12700">
            <a:solidFill>
              <a:srgbClr val="F4F6FB"/>
            </a:solidFill>
            <a:prstDash val="solid"/>
          </a:ln>
        </p:spPr>
      </p:sp>
      <p:sp>
        <p:nvSpPr>
          <p:cNvPr id="7" name="Shape 5"/>
          <p:cNvSpPr/>
          <p:nvPr/>
        </p:nvSpPr>
        <p:spPr>
          <a:xfrm>
            <a:off x="457200" y="3017520"/>
            <a:ext cx="5394960" cy="502920"/>
          </a:xfrm>
          <a:prstGeom prst="rect">
            <a:avLst/>
          </a:prstGeom>
          <a:solidFill>
            <a:srgbClr val="1E2761"/>
          </a:solidFill>
          <a:ln w="12700">
            <a:solidFill>
              <a:srgbClr val="1E2761"/>
            </a:solidFill>
            <a:prstDash val="solid"/>
          </a:ln>
        </p:spPr>
      </p:sp>
      <p:sp>
        <p:nvSpPr>
          <p:cNvPr id="8" name="Text 6"/>
          <p:cNvSpPr txBox="1"/>
          <p:nvPr/>
        </p:nvSpPr>
        <p:spPr>
          <a:xfrm>
            <a:off x="640080" y="309067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Seller — “Amina”</a:t>
            </a:r>
            <a:endParaRPr lang="en-US" sz="1400" dirty="0"/>
          </a:p>
        </p:txBody>
      </p:sp>
      <p:sp>
        <p:nvSpPr>
          <p:cNvPr id="9" name="Text 7"/>
          <p:cNvSpPr txBox="1"/>
          <p:nvPr/>
        </p:nvSpPr>
        <p:spPr>
          <a:xfrm>
            <a:off x="640080" y="3657600"/>
            <a:ext cx="5029200" cy="640080"/>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Wholesale electronics trader. Wants inventory cleared at the highest margin, fastest speed, without babysitting the auction.</a:t>
            </a:r>
            <a:endParaRPr lang="en-US" sz="1050" dirty="0"/>
          </a:p>
        </p:txBody>
      </p:sp>
      <p:sp>
        <p:nvSpPr>
          <p:cNvPr id="10" name="Text 8"/>
          <p:cNvSpPr txBox="1"/>
          <p:nvPr/>
        </p:nvSpPr>
        <p:spPr>
          <a:xfrm>
            <a:off x="640080" y="4389120"/>
            <a:ext cx="5029200" cy="16459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Recommends the optimal auction type per product</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Sets and adjusts reserve prices from market intel</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Auto-relists unsold lots with revised parameters</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Sends an evening WhatsApp performance summary</a:t>
            </a:r>
            <a:endParaRPr lang="en-US" sz="1050" dirty="0"/>
          </a:p>
        </p:txBody>
      </p:sp>
      <p:sp>
        <p:nvSpPr>
          <p:cNvPr id="11" name="Shape 9"/>
          <p:cNvSpPr/>
          <p:nvPr/>
        </p:nvSpPr>
        <p:spPr>
          <a:xfrm>
            <a:off x="6309360" y="3017520"/>
            <a:ext cx="5394960" cy="3200400"/>
          </a:xfrm>
          <a:prstGeom prst="rect">
            <a:avLst/>
          </a:prstGeom>
          <a:solidFill>
            <a:srgbClr val="F4F6FB"/>
          </a:solidFill>
          <a:ln w="12700">
            <a:solidFill>
              <a:srgbClr val="F4F6FB"/>
            </a:solidFill>
            <a:prstDash val="solid"/>
          </a:ln>
        </p:spPr>
      </p:sp>
      <p:sp>
        <p:nvSpPr>
          <p:cNvPr id="12" name="Shape 10"/>
          <p:cNvSpPr/>
          <p:nvPr/>
        </p:nvSpPr>
        <p:spPr>
          <a:xfrm>
            <a:off x="6309360" y="3017520"/>
            <a:ext cx="5394960" cy="502920"/>
          </a:xfrm>
          <a:prstGeom prst="rect">
            <a:avLst/>
          </a:prstGeom>
          <a:solidFill>
            <a:srgbClr val="B85042"/>
          </a:solidFill>
          <a:ln w="12700">
            <a:solidFill>
              <a:srgbClr val="B85042"/>
            </a:solidFill>
            <a:prstDash val="solid"/>
          </a:ln>
        </p:spPr>
      </p:sp>
      <p:sp>
        <p:nvSpPr>
          <p:cNvPr id="13" name="Text 11"/>
          <p:cNvSpPr txBox="1"/>
          <p:nvPr/>
        </p:nvSpPr>
        <p:spPr>
          <a:xfrm>
            <a:off x="6492240" y="309067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Bidder — “David”</a:t>
            </a:r>
            <a:endParaRPr lang="en-US" sz="1400" dirty="0"/>
          </a:p>
        </p:txBody>
      </p:sp>
      <p:sp>
        <p:nvSpPr>
          <p:cNvPr id="14" name="Text 12"/>
          <p:cNvSpPr txBox="1"/>
          <p:nvPr/>
        </p:nvSpPr>
        <p:spPr>
          <a:xfrm>
            <a:off x="6492240" y="3657600"/>
            <a:ext cx="5029200" cy="640080"/>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Procurement manager. Wants to source at spec, under a landed-cost ceiling, by a delivery deadline.</a:t>
            </a:r>
            <a:endParaRPr lang="en-US" sz="1050" dirty="0"/>
          </a:p>
        </p:txBody>
      </p:sp>
      <p:sp>
        <p:nvSpPr>
          <p:cNvPr id="15" name="Text 13"/>
          <p:cNvSpPr txBox="1"/>
          <p:nvPr/>
        </p:nvSpPr>
        <p:spPr>
          <a:xfrm>
            <a:off x="6492240" y="4389120"/>
            <a:ext cx="5029200" cy="16459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Holds standing constraints as durable memory</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Scans live and upcoming auctions for fit</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Executes bidding strategy per auction type</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Escalates only when a decision exceeds its authority</a:t>
            </a:r>
            <a:endParaRPr lang="en-US" sz="1050" dirty="0"/>
          </a:p>
        </p:txBody>
      </p:sp>
      <p:sp>
        <p:nvSpPr>
          <p:cNvPr id="16" name="Text 1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7" name="Text 1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SCOPE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Core Loop &amp; Feature Scope</a:t>
            </a:r>
            <a:endParaRPr lang="en-US" sz="2800" dirty="0"/>
          </a:p>
        </p:txBody>
      </p:sp>
      <p:sp>
        <p:nvSpPr>
          <p:cNvPr id="5" name="Shape 3"/>
          <p:cNvSpPr/>
          <p:nvPr/>
        </p:nvSpPr>
        <p:spPr>
          <a:xfrm>
            <a:off x="457200" y="1874520"/>
            <a:ext cx="1975104" cy="1051560"/>
          </a:xfrm>
          <a:prstGeom prst="rect">
            <a:avLst/>
          </a:prstGeom>
          <a:solidFill>
            <a:srgbClr val="1E2761"/>
          </a:solidFill>
          <a:ln w="12700">
            <a:solidFill>
              <a:srgbClr val="1E2761"/>
            </a:solidFill>
            <a:prstDash val="solid"/>
          </a:ln>
        </p:spPr>
      </p:sp>
      <p:sp>
        <p:nvSpPr>
          <p:cNvPr id="6" name="Text 4"/>
          <p:cNvSpPr txBox="1"/>
          <p:nvPr/>
        </p:nvSpPr>
        <p:spPr>
          <a:xfrm>
            <a:off x="548640" y="1920240"/>
            <a:ext cx="54864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548640" y="2286000"/>
            <a:ext cx="1773936" cy="594360"/>
          </a:xfrm>
          <a:prstGeom prst="rect">
            <a:avLst/>
          </a:prstGeom>
          <a:noFill/>
          <a:ln/>
        </p:spPr>
        <p:txBody>
          <a:bodyPr wrap="square" lIns="0" tIns="0" rIns="0" bIns="0" rtlCol="0" anchor="ctr"/>
          <a:lstStyle/>
          <a:p>
            <a:pPr indent="0" marL="0">
              <a:buNone/>
            </a:pPr>
            <a:r>
              <a:rPr lang="en-US" sz="870" dirty="0">
                <a:solidFill>
                  <a:srgbClr val="FFFFFF"/>
                </a:solidFill>
                <a:latin typeface="Calibri" pitchFamily="34" charset="0"/>
                <a:ea typeface="Calibri" pitchFamily="34" charset="-122"/>
                <a:cs typeface="Calibri" pitchFamily="34" charset="-120"/>
              </a:rPr>
              <a:t>Seller Agent lists a product with an auction type &amp; terms</a:t>
            </a:r>
            <a:endParaRPr lang="en-US" sz="870" dirty="0"/>
          </a:p>
        </p:txBody>
      </p:sp>
      <p:sp>
        <p:nvSpPr>
          <p:cNvPr id="8" name="Text 6"/>
          <p:cNvSpPr txBox="1"/>
          <p:nvPr/>
        </p:nvSpPr>
        <p:spPr>
          <a:xfrm>
            <a:off x="2414016" y="2148840"/>
            <a:ext cx="320040" cy="45720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9" name="Shape 7"/>
          <p:cNvSpPr/>
          <p:nvPr/>
        </p:nvSpPr>
        <p:spPr>
          <a:xfrm>
            <a:off x="2596896" y="1874520"/>
            <a:ext cx="1975104" cy="1051560"/>
          </a:xfrm>
          <a:prstGeom prst="rect">
            <a:avLst/>
          </a:prstGeom>
          <a:solidFill>
            <a:srgbClr val="3B4A99"/>
          </a:solidFill>
          <a:ln w="12700">
            <a:solidFill>
              <a:srgbClr val="1E2761"/>
            </a:solidFill>
            <a:prstDash val="solid"/>
          </a:ln>
        </p:spPr>
      </p:sp>
      <p:sp>
        <p:nvSpPr>
          <p:cNvPr id="10" name="Text 8"/>
          <p:cNvSpPr txBox="1"/>
          <p:nvPr/>
        </p:nvSpPr>
        <p:spPr>
          <a:xfrm>
            <a:off x="2688336" y="1920240"/>
            <a:ext cx="54864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2688336" y="2286000"/>
            <a:ext cx="1773936" cy="594360"/>
          </a:xfrm>
          <a:prstGeom prst="rect">
            <a:avLst/>
          </a:prstGeom>
          <a:noFill/>
          <a:ln/>
        </p:spPr>
        <p:txBody>
          <a:bodyPr wrap="square" lIns="0" tIns="0" rIns="0" bIns="0" rtlCol="0" anchor="ctr"/>
          <a:lstStyle/>
          <a:p>
            <a:pPr indent="0" marL="0">
              <a:buNone/>
            </a:pPr>
            <a:r>
              <a:rPr lang="en-US" sz="870" dirty="0">
                <a:solidFill>
                  <a:srgbClr val="FFFFFF"/>
                </a:solidFill>
                <a:latin typeface="Calibri" pitchFamily="34" charset="0"/>
                <a:ea typeface="Calibri" pitchFamily="34" charset="-122"/>
                <a:cs typeface="Calibri" pitchFamily="34" charset="-120"/>
              </a:rPr>
              <a:t>Bidder Agents matching the spec discover &amp; participate</a:t>
            </a:r>
            <a:endParaRPr lang="en-US" sz="870" dirty="0"/>
          </a:p>
        </p:txBody>
      </p:sp>
      <p:sp>
        <p:nvSpPr>
          <p:cNvPr id="12" name="Text 10"/>
          <p:cNvSpPr txBox="1"/>
          <p:nvPr/>
        </p:nvSpPr>
        <p:spPr>
          <a:xfrm>
            <a:off x="4553712" y="2148840"/>
            <a:ext cx="320040" cy="45720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13" name="Shape 11"/>
          <p:cNvSpPr/>
          <p:nvPr/>
        </p:nvSpPr>
        <p:spPr>
          <a:xfrm>
            <a:off x="4736592" y="1874520"/>
            <a:ext cx="1975104" cy="1051560"/>
          </a:xfrm>
          <a:prstGeom prst="rect">
            <a:avLst/>
          </a:prstGeom>
          <a:solidFill>
            <a:srgbClr val="1E2761"/>
          </a:solidFill>
          <a:ln w="12700">
            <a:solidFill>
              <a:srgbClr val="1E2761"/>
            </a:solidFill>
            <a:prstDash val="solid"/>
          </a:ln>
        </p:spPr>
      </p:sp>
      <p:sp>
        <p:nvSpPr>
          <p:cNvPr id="14" name="Text 12"/>
          <p:cNvSpPr txBox="1"/>
          <p:nvPr/>
        </p:nvSpPr>
        <p:spPr>
          <a:xfrm>
            <a:off x="4828032" y="1920240"/>
            <a:ext cx="54864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4828032" y="2286000"/>
            <a:ext cx="1773936" cy="594360"/>
          </a:xfrm>
          <a:prstGeom prst="rect">
            <a:avLst/>
          </a:prstGeom>
          <a:noFill/>
          <a:ln/>
        </p:spPr>
        <p:txBody>
          <a:bodyPr wrap="square" lIns="0" tIns="0" rIns="0" bIns="0" rtlCol="0" anchor="ctr"/>
          <a:lstStyle/>
          <a:p>
            <a:pPr indent="0" marL="0">
              <a:buNone/>
            </a:pPr>
            <a:r>
              <a:rPr lang="en-US" sz="870" dirty="0">
                <a:solidFill>
                  <a:srgbClr val="FFFFFF"/>
                </a:solidFill>
                <a:latin typeface="Calibri" pitchFamily="34" charset="0"/>
                <a:ea typeface="Calibri" pitchFamily="34" charset="-122"/>
                <a:cs typeface="Calibri" pitchFamily="34" charset="-120"/>
              </a:rPr>
              <a:t>The auction runs to completion using real auction mechanics</a:t>
            </a:r>
            <a:endParaRPr lang="en-US" sz="870" dirty="0"/>
          </a:p>
        </p:txBody>
      </p:sp>
      <p:sp>
        <p:nvSpPr>
          <p:cNvPr id="16" name="Text 14"/>
          <p:cNvSpPr txBox="1"/>
          <p:nvPr/>
        </p:nvSpPr>
        <p:spPr>
          <a:xfrm>
            <a:off x="6693408" y="2148840"/>
            <a:ext cx="320040" cy="45720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17" name="Shape 15"/>
          <p:cNvSpPr/>
          <p:nvPr/>
        </p:nvSpPr>
        <p:spPr>
          <a:xfrm>
            <a:off x="6876288" y="1874520"/>
            <a:ext cx="1975104" cy="1051560"/>
          </a:xfrm>
          <a:prstGeom prst="rect">
            <a:avLst/>
          </a:prstGeom>
          <a:solidFill>
            <a:srgbClr val="3B4A99"/>
          </a:solidFill>
          <a:ln w="12700">
            <a:solidFill>
              <a:srgbClr val="1E2761"/>
            </a:solidFill>
            <a:prstDash val="solid"/>
          </a:ln>
        </p:spPr>
      </p:sp>
      <p:sp>
        <p:nvSpPr>
          <p:cNvPr id="18" name="Text 16"/>
          <p:cNvSpPr txBox="1"/>
          <p:nvPr/>
        </p:nvSpPr>
        <p:spPr>
          <a:xfrm>
            <a:off x="6967728" y="1920240"/>
            <a:ext cx="54864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6967728" y="2286000"/>
            <a:ext cx="1773936" cy="594360"/>
          </a:xfrm>
          <a:prstGeom prst="rect">
            <a:avLst/>
          </a:prstGeom>
          <a:noFill/>
          <a:ln/>
        </p:spPr>
        <p:txBody>
          <a:bodyPr wrap="square" lIns="0" tIns="0" rIns="0" bIns="0" rtlCol="0" anchor="ctr"/>
          <a:lstStyle/>
          <a:p>
            <a:pPr indent="0" marL="0">
              <a:buNone/>
            </a:pPr>
            <a:r>
              <a:rPr lang="en-US" sz="870" dirty="0">
                <a:solidFill>
                  <a:srgbClr val="FFFFFF"/>
                </a:solidFill>
                <a:latin typeface="Calibri" pitchFamily="34" charset="0"/>
                <a:ea typeface="Calibri" pitchFamily="34" charset="-122"/>
                <a:cs typeface="Calibri" pitchFamily="34" charset="-120"/>
              </a:rPr>
              <a:t>A Match is produced — terms agreed, contact exchanged</a:t>
            </a:r>
            <a:endParaRPr lang="en-US" sz="870" dirty="0"/>
          </a:p>
        </p:txBody>
      </p:sp>
      <p:sp>
        <p:nvSpPr>
          <p:cNvPr id="20" name="Text 18"/>
          <p:cNvSpPr txBox="1"/>
          <p:nvPr/>
        </p:nvSpPr>
        <p:spPr>
          <a:xfrm>
            <a:off x="8833104" y="2148840"/>
            <a:ext cx="320040" cy="45720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21" name="Shape 19"/>
          <p:cNvSpPr/>
          <p:nvPr/>
        </p:nvSpPr>
        <p:spPr>
          <a:xfrm>
            <a:off x="9015984" y="1874520"/>
            <a:ext cx="1975104" cy="1051560"/>
          </a:xfrm>
          <a:prstGeom prst="rect">
            <a:avLst/>
          </a:prstGeom>
          <a:solidFill>
            <a:srgbClr val="1E2761"/>
          </a:solidFill>
          <a:ln w="12700">
            <a:solidFill>
              <a:srgbClr val="1E2761"/>
            </a:solidFill>
            <a:prstDash val="solid"/>
          </a:ln>
        </p:spPr>
      </p:sp>
      <p:sp>
        <p:nvSpPr>
          <p:cNvPr id="22" name="Text 20"/>
          <p:cNvSpPr txBox="1"/>
          <p:nvPr/>
        </p:nvSpPr>
        <p:spPr>
          <a:xfrm>
            <a:off x="9107424" y="1920240"/>
            <a:ext cx="548640" cy="365760"/>
          </a:xfrm>
          <a:prstGeom prst="rect">
            <a:avLst/>
          </a:prstGeom>
          <a:noFill/>
          <a:ln/>
        </p:spPr>
        <p:txBody>
          <a:bodyPr wrap="square" lIns="0" tIns="0" rIns="0" bIns="0" rtlCol="0" anchor="ctr"/>
          <a:lstStyle/>
          <a:p>
            <a:pPr indent="0" marL="0">
              <a:buNone/>
            </a:pPr>
            <a:r>
              <a:rPr lang="en-US" sz="1600" b="1" dirty="0">
                <a:solidFill>
                  <a:srgbClr val="CADCFC"/>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9107424" y="2286000"/>
            <a:ext cx="1773936" cy="594360"/>
          </a:xfrm>
          <a:prstGeom prst="rect">
            <a:avLst/>
          </a:prstGeom>
          <a:noFill/>
          <a:ln/>
        </p:spPr>
        <p:txBody>
          <a:bodyPr wrap="square" lIns="0" tIns="0" rIns="0" bIns="0" rtlCol="0" anchor="ctr"/>
          <a:lstStyle/>
          <a:p>
            <a:pPr indent="0" marL="0">
              <a:buNone/>
            </a:pPr>
            <a:r>
              <a:rPr lang="en-US" sz="870" dirty="0">
                <a:solidFill>
                  <a:srgbClr val="FFFFFF"/>
                </a:solidFill>
                <a:latin typeface="Calibri" pitchFamily="34" charset="0"/>
                <a:ea typeface="Calibri" pitchFamily="34" charset="-122"/>
                <a:cs typeface="Calibri" pitchFamily="34" charset="-120"/>
              </a:rPr>
              <a:t>Both parties confirm the outcome, feeding reputation</a:t>
            </a:r>
            <a:endParaRPr lang="en-US" sz="870" dirty="0"/>
          </a:p>
        </p:txBody>
      </p:sp>
      <p:sp>
        <p:nvSpPr>
          <p:cNvPr id="24" name="Shape 22"/>
          <p:cNvSpPr/>
          <p:nvPr/>
        </p:nvSpPr>
        <p:spPr>
          <a:xfrm>
            <a:off x="457200" y="3291840"/>
            <a:ext cx="5394960" cy="2926080"/>
          </a:xfrm>
          <a:prstGeom prst="rect">
            <a:avLst/>
          </a:prstGeom>
          <a:solidFill>
            <a:srgbClr val="EAF4F0"/>
          </a:solidFill>
          <a:ln w="19050">
            <a:solidFill>
              <a:srgbClr val="028090"/>
            </a:solidFill>
            <a:prstDash val="solid"/>
          </a:ln>
        </p:spPr>
      </p:sp>
      <p:sp>
        <p:nvSpPr>
          <p:cNvPr id="25" name="Text 23"/>
          <p:cNvSpPr txBox="1"/>
          <p:nvPr/>
        </p:nvSpPr>
        <p:spPr>
          <a:xfrm>
            <a:off x="685800" y="3429000"/>
            <a:ext cx="457200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In Scope</a:t>
            </a:r>
            <a:endParaRPr lang="en-US" sz="1300" dirty="0"/>
          </a:p>
        </p:txBody>
      </p:sp>
      <p:sp>
        <p:nvSpPr>
          <p:cNvPr id="26" name="Text 24"/>
          <p:cNvSpPr txBox="1"/>
          <p:nvPr/>
        </p:nvSpPr>
        <p:spPr>
          <a:xfrm>
            <a:off x="685800" y="3886200"/>
            <a:ext cx="4937760" cy="219456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Seller &amp; Bidder Agents with durable constraints</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English, Dutch, First &amp; Second-Price Sealed-Bid (prototype)</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Reverse, Multi-Unit, Combinatorial (architected, later)</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Web + WhatsApp channels (prototype)</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Reputation scoring from match outcomes</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Market Intelligence (historical clearing prices, demand)</a:t>
            </a:r>
            <a:endParaRPr lang="en-US" sz="1050" dirty="0"/>
          </a:p>
        </p:txBody>
      </p:sp>
      <p:sp>
        <p:nvSpPr>
          <p:cNvPr id="27" name="Shape 25"/>
          <p:cNvSpPr/>
          <p:nvPr/>
        </p:nvSpPr>
        <p:spPr>
          <a:xfrm>
            <a:off x="6309360" y="3291840"/>
            <a:ext cx="5394960" cy="2926080"/>
          </a:xfrm>
          <a:prstGeom prst="rect">
            <a:avLst/>
          </a:prstGeom>
          <a:solidFill>
            <a:srgbClr val="FDF0E6"/>
          </a:solidFill>
          <a:ln w="19050">
            <a:solidFill>
              <a:srgbClr val="B85042"/>
            </a:solidFill>
            <a:prstDash val="solid"/>
          </a:ln>
        </p:spPr>
      </p:sp>
      <p:sp>
        <p:nvSpPr>
          <p:cNvPr id="28" name="Text 26"/>
          <p:cNvSpPr txBox="1"/>
          <p:nvPr/>
        </p:nvSpPr>
        <p:spPr>
          <a:xfrm>
            <a:off x="6537960" y="3429000"/>
            <a:ext cx="4937760" cy="36576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Explicitly Out of Scope</a:t>
            </a:r>
            <a:endParaRPr lang="en-US" sz="1300" dirty="0"/>
          </a:p>
        </p:txBody>
      </p:sp>
      <p:sp>
        <p:nvSpPr>
          <p:cNvPr id="29" name="Text 27"/>
          <p:cNvSpPr txBox="1"/>
          <p:nvPr/>
        </p:nvSpPr>
        <p:spPr>
          <a:xfrm>
            <a:off x="6537960" y="3886200"/>
            <a:ext cx="4937760" cy="2194560"/>
          </a:xfrm>
          <a:prstGeom prst="rect">
            <a:avLst/>
          </a:prstGeom>
          <a:noFill/>
          <a:ln/>
        </p:spPr>
        <p:txBody>
          <a:bodyPr wrap="square" lIns="0" tIns="0" rIns="0" bIns="0" rtlCol="0" anchor="ctr"/>
          <a:lstStyle/>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Any fund holds, in-platform checkout, or payment processing</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Delivery / logistics coordination (handled off-platform)</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Platform-mediated dispute resolution or refunds</a:t>
            </a:r>
            <a:endParaRPr lang="en-US" sz="1050" dirty="0"/>
          </a:p>
          <a:p>
            <a:pPr marL="342900" indent="-342900">
              <a:spcAft>
                <a:spcPts val="700"/>
              </a:spcAft>
              <a:buSzPct val="100000"/>
              <a:buChar char="✗"/>
            </a:pPr>
            <a:r>
              <a:rPr lang="en-US" sz="1050" dirty="0">
                <a:solidFill>
                  <a:srgbClr val="2B2B2B"/>
                </a:solidFill>
                <a:latin typeface="Calibri" pitchFamily="34" charset="0"/>
                <a:ea typeface="Calibri" pitchFamily="34" charset="-122"/>
                <a:cs typeface="Calibri" pitchFamily="34" charset="-120"/>
              </a:rPr>
              <a:t>Slack, Voice, and public API (deferred past prototype)</a:t>
            </a:r>
            <a:endParaRPr lang="en-US" sz="1050" dirty="0"/>
          </a:p>
        </p:txBody>
      </p:sp>
      <p:sp>
        <p:nvSpPr>
          <p:cNvPr id="30" name="Text 28"/>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31" name="Text 29"/>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MONETIZATION</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How KenyaBidder Makes Money Without a Payment Module</a:t>
            </a:r>
            <a:endParaRPr lang="en-US" sz="2800" dirty="0"/>
          </a:p>
        </p:txBody>
      </p:sp>
      <p:sp>
        <p:nvSpPr>
          <p:cNvPr id="5" name="Text 3"/>
          <p:cNvSpPr txBox="1"/>
          <p:nvPr/>
        </p:nvSpPr>
        <p:spPr>
          <a:xfrm>
            <a:off x="457200" y="1828800"/>
            <a:ext cx="11247120" cy="640080"/>
          </a:xfrm>
          <a:prstGeom prst="rect">
            <a:avLst/>
          </a:prstGeom>
          <a:noFill/>
          <a:ln/>
        </p:spPr>
        <p:txBody>
          <a:bodyPr wrap="square" lIns="0" tIns="0" rIns="0" bIns="0" rtlCol="0" anchor="ctr"/>
          <a:lstStyle/>
          <a:p>
            <a:pPr indent="0" marL="0">
              <a:lnSpc>
                <a:spcPct val="125000"/>
              </a:lnSpc>
              <a:buNone/>
            </a:pPr>
            <a:r>
              <a:rPr lang="en-US" sz="1250" i="1" dirty="0">
                <a:solidFill>
                  <a:srgbClr val="2B2B2B"/>
                </a:solidFill>
                <a:latin typeface="Calibri" pitchFamily="34" charset="0"/>
                <a:ea typeface="Calibri" pitchFamily="34" charset="-122"/>
                <a:cs typeface="Calibri" pitchFamily="34" charset="-120"/>
              </a:rPr>
              <a:t>The platform never touches transaction funds, so the usual take-rate-on-GMV model isn't available. Monetization works through access, signal, and successful outcomes instead.</a:t>
            </a:r>
            <a:endParaRPr lang="en-US" sz="1250" dirty="0"/>
          </a:p>
        </p:txBody>
      </p:sp>
      <p:sp>
        <p:nvSpPr>
          <p:cNvPr id="6" name="Shape 4"/>
          <p:cNvSpPr/>
          <p:nvPr/>
        </p:nvSpPr>
        <p:spPr>
          <a:xfrm>
            <a:off x="457200" y="2606040"/>
            <a:ext cx="2679192" cy="3200400"/>
          </a:xfrm>
          <a:prstGeom prst="rect">
            <a:avLst/>
          </a:prstGeom>
          <a:solidFill>
            <a:srgbClr val="F4F6FB"/>
          </a:solidFill>
          <a:ln w="12700">
            <a:solidFill>
              <a:srgbClr val="F4F6FB"/>
            </a:solidFill>
            <a:prstDash val="solid"/>
          </a:ln>
        </p:spPr>
      </p:sp>
      <p:sp>
        <p:nvSpPr>
          <p:cNvPr id="7" name="Shape 5"/>
          <p:cNvSpPr/>
          <p:nvPr/>
        </p:nvSpPr>
        <p:spPr>
          <a:xfrm>
            <a:off x="457200" y="2606040"/>
            <a:ext cx="2679192" cy="914400"/>
          </a:xfrm>
          <a:prstGeom prst="rect">
            <a:avLst/>
          </a:prstGeom>
          <a:solidFill>
            <a:srgbClr val="1E2761"/>
          </a:solidFill>
          <a:ln w="12700">
            <a:solidFill>
              <a:srgbClr val="1E2761"/>
            </a:solidFill>
            <a:prstDash val="solid"/>
          </a:ln>
        </p:spPr>
      </p:sp>
      <p:sp>
        <p:nvSpPr>
          <p:cNvPr id="8" name="Text 6"/>
          <p:cNvSpPr txBox="1"/>
          <p:nvPr/>
        </p:nvSpPr>
        <p:spPr>
          <a:xfrm>
            <a:off x="621792" y="2679192"/>
            <a:ext cx="2359152"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Seller Subscription</a:t>
            </a:r>
            <a:endParaRPr lang="en-US" sz="1300" dirty="0"/>
          </a:p>
        </p:txBody>
      </p:sp>
      <p:sp>
        <p:nvSpPr>
          <p:cNvPr id="9" name="Text 7"/>
          <p:cNvSpPr txBox="1"/>
          <p:nvPr/>
        </p:nvSpPr>
        <p:spPr>
          <a:xfrm>
            <a:off x="621792" y="3127248"/>
            <a:ext cx="2359152" cy="274320"/>
          </a:xfrm>
          <a:prstGeom prst="rect">
            <a:avLst/>
          </a:prstGeom>
          <a:noFill/>
          <a:ln/>
        </p:spPr>
        <p:txBody>
          <a:bodyPr wrap="square" lIns="0" tIns="0" rIns="0" bIns="0" rtlCol="0" anchor="ctr"/>
          <a:lstStyle/>
          <a:p>
            <a:pPr indent="0" marL="0">
              <a:buNone/>
            </a:pPr>
            <a:r>
              <a:rPr lang="en-US" sz="750" b="1" dirty="0">
                <a:solidFill>
                  <a:srgbClr val="E8EEF7"/>
                </a:solidFill>
                <a:latin typeface="Calibri" pitchFamily="34" charset="0"/>
                <a:ea typeface="Calibri" pitchFamily="34" charset="-122"/>
                <a:cs typeface="Calibri" pitchFamily="34" charset="-120"/>
              </a:rPr>
              <a:t>PRIMARY — FROM LAUNCH</a:t>
            </a:r>
            <a:endParaRPr lang="en-US" sz="750" dirty="0"/>
          </a:p>
        </p:txBody>
      </p:sp>
      <p:sp>
        <p:nvSpPr>
          <p:cNvPr id="10" name="Text 8"/>
          <p:cNvSpPr txBox="1"/>
          <p:nvPr/>
        </p:nvSpPr>
        <p:spPr>
          <a:xfrm>
            <a:off x="621792" y="3657600"/>
            <a:ext cx="2404872" cy="2011680"/>
          </a:xfrm>
          <a:prstGeom prst="rect">
            <a:avLst/>
          </a:prstGeom>
          <a:noFill/>
          <a:ln/>
        </p:spPr>
        <p:txBody>
          <a:bodyPr wrap="square" lIns="0" tIns="0" rIns="0" bIns="0" rtlCol="0" anchor="ctr"/>
          <a:lstStyle/>
          <a:p>
            <a:pPr indent="0" marL="0">
              <a:lnSpc>
                <a:spcPct val="125000"/>
              </a:lnSpc>
              <a:buNone/>
            </a:pPr>
            <a:r>
              <a:rPr lang="en-US" sz="930" dirty="0">
                <a:solidFill>
                  <a:srgbClr val="2B2B2B"/>
                </a:solidFill>
                <a:latin typeface="Calibri" pitchFamily="34" charset="0"/>
                <a:ea typeface="Calibri" pitchFamily="34" charset="-122"/>
                <a:cs typeface="Calibri" pitchFamily="34" charset="-120"/>
              </a:rPr>
              <a:t>Continuous agent access, listing capacity, priority matching. Predictable revenue, fits sellers' recurring usage.</a:t>
            </a:r>
            <a:endParaRPr lang="en-US" sz="930" dirty="0"/>
          </a:p>
        </p:txBody>
      </p:sp>
      <p:sp>
        <p:nvSpPr>
          <p:cNvPr id="11" name="Shape 9"/>
          <p:cNvSpPr/>
          <p:nvPr/>
        </p:nvSpPr>
        <p:spPr>
          <a:xfrm>
            <a:off x="3273552" y="2606040"/>
            <a:ext cx="2679192" cy="3200400"/>
          </a:xfrm>
          <a:prstGeom prst="rect">
            <a:avLst/>
          </a:prstGeom>
          <a:solidFill>
            <a:srgbClr val="F4F6FB"/>
          </a:solidFill>
          <a:ln w="12700">
            <a:solidFill>
              <a:srgbClr val="F4F6FB"/>
            </a:solidFill>
            <a:prstDash val="solid"/>
          </a:ln>
        </p:spPr>
      </p:sp>
      <p:sp>
        <p:nvSpPr>
          <p:cNvPr id="12" name="Shape 10"/>
          <p:cNvSpPr/>
          <p:nvPr/>
        </p:nvSpPr>
        <p:spPr>
          <a:xfrm>
            <a:off x="3273552" y="2606040"/>
            <a:ext cx="2679192" cy="914400"/>
          </a:xfrm>
          <a:prstGeom prst="rect">
            <a:avLst/>
          </a:prstGeom>
          <a:solidFill>
            <a:srgbClr val="028090"/>
          </a:solidFill>
          <a:ln w="12700">
            <a:solidFill>
              <a:srgbClr val="028090"/>
            </a:solidFill>
            <a:prstDash val="solid"/>
          </a:ln>
        </p:spPr>
      </p:sp>
      <p:sp>
        <p:nvSpPr>
          <p:cNvPr id="13" name="Text 11"/>
          <p:cNvSpPr txBox="1"/>
          <p:nvPr/>
        </p:nvSpPr>
        <p:spPr>
          <a:xfrm>
            <a:off x="3438144" y="2679192"/>
            <a:ext cx="2359152"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Free Buyer Access</a:t>
            </a:r>
            <a:endParaRPr lang="en-US" sz="1300" dirty="0"/>
          </a:p>
        </p:txBody>
      </p:sp>
      <p:sp>
        <p:nvSpPr>
          <p:cNvPr id="14" name="Text 12"/>
          <p:cNvSpPr txBox="1"/>
          <p:nvPr/>
        </p:nvSpPr>
        <p:spPr>
          <a:xfrm>
            <a:off x="3438144" y="3127248"/>
            <a:ext cx="2359152" cy="274320"/>
          </a:xfrm>
          <a:prstGeom prst="rect">
            <a:avLst/>
          </a:prstGeom>
          <a:noFill/>
          <a:ln/>
        </p:spPr>
        <p:txBody>
          <a:bodyPr wrap="square" lIns="0" tIns="0" rIns="0" bIns="0" rtlCol="0" anchor="ctr"/>
          <a:lstStyle/>
          <a:p>
            <a:pPr indent="0" marL="0">
              <a:buNone/>
            </a:pPr>
            <a:r>
              <a:rPr lang="en-US" sz="750" b="1" dirty="0">
                <a:solidFill>
                  <a:srgbClr val="E8EEF7"/>
                </a:solidFill>
                <a:latin typeface="Calibri" pitchFamily="34" charset="0"/>
                <a:ea typeface="Calibri" pitchFamily="34" charset="-122"/>
                <a:cs typeface="Calibri" pitchFamily="34" charset="-120"/>
              </a:rPr>
              <a:t>FROM LAUNCH</a:t>
            </a:r>
            <a:endParaRPr lang="en-US" sz="750" dirty="0"/>
          </a:p>
        </p:txBody>
      </p:sp>
      <p:sp>
        <p:nvSpPr>
          <p:cNvPr id="15" name="Text 13"/>
          <p:cNvSpPr txBox="1"/>
          <p:nvPr/>
        </p:nvSpPr>
        <p:spPr>
          <a:xfrm>
            <a:off x="3438144" y="3657600"/>
            <a:ext cx="2404872" cy="2011680"/>
          </a:xfrm>
          <a:prstGeom prst="rect">
            <a:avLst/>
          </a:prstGeom>
          <a:noFill/>
          <a:ln/>
        </p:spPr>
        <p:txBody>
          <a:bodyPr wrap="square" lIns="0" tIns="0" rIns="0" bIns="0" rtlCol="0" anchor="ctr"/>
          <a:lstStyle/>
          <a:p>
            <a:pPr indent="0" marL="0">
              <a:lnSpc>
                <a:spcPct val="125000"/>
              </a:lnSpc>
              <a:buNone/>
            </a:pPr>
            <a:r>
              <a:rPr lang="en-US" sz="930" dirty="0">
                <a:solidFill>
                  <a:srgbClr val="2B2B2B"/>
                </a:solidFill>
                <a:latin typeface="Calibri" pitchFamily="34" charset="0"/>
                <a:ea typeface="Calibri" pitchFamily="34" charset="-122"/>
                <a:cs typeface="Calibri" pitchFamily="34" charset="-120"/>
              </a:rPr>
              <a:t>Buyers aren't taxed — they're what makes seller subscriptions worth paying for. Maximizes demand-side liquidity.</a:t>
            </a:r>
            <a:endParaRPr lang="en-US" sz="930" dirty="0"/>
          </a:p>
        </p:txBody>
      </p:sp>
      <p:sp>
        <p:nvSpPr>
          <p:cNvPr id="16" name="Shape 14"/>
          <p:cNvSpPr/>
          <p:nvPr/>
        </p:nvSpPr>
        <p:spPr>
          <a:xfrm>
            <a:off x="6089904" y="2606040"/>
            <a:ext cx="2679192" cy="3200400"/>
          </a:xfrm>
          <a:prstGeom prst="rect">
            <a:avLst/>
          </a:prstGeom>
          <a:solidFill>
            <a:srgbClr val="F4F6FB"/>
          </a:solidFill>
          <a:ln w="12700">
            <a:solidFill>
              <a:srgbClr val="F4F6FB"/>
            </a:solidFill>
            <a:prstDash val="solid"/>
          </a:ln>
        </p:spPr>
      </p:sp>
      <p:sp>
        <p:nvSpPr>
          <p:cNvPr id="17" name="Shape 15"/>
          <p:cNvSpPr/>
          <p:nvPr/>
        </p:nvSpPr>
        <p:spPr>
          <a:xfrm>
            <a:off x="6089904" y="2606040"/>
            <a:ext cx="2679192" cy="914400"/>
          </a:xfrm>
          <a:prstGeom prst="rect">
            <a:avLst/>
          </a:prstGeom>
          <a:solidFill>
            <a:srgbClr val="B85042"/>
          </a:solidFill>
          <a:ln w="12700">
            <a:solidFill>
              <a:srgbClr val="B85042"/>
            </a:solidFill>
            <a:prstDash val="solid"/>
          </a:ln>
        </p:spPr>
      </p:sp>
      <p:sp>
        <p:nvSpPr>
          <p:cNvPr id="18" name="Text 16"/>
          <p:cNvSpPr txBox="1"/>
          <p:nvPr/>
        </p:nvSpPr>
        <p:spPr>
          <a:xfrm>
            <a:off x="6254496" y="2679192"/>
            <a:ext cx="2359152"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Success / Match Fee</a:t>
            </a:r>
            <a:endParaRPr lang="en-US" sz="1300" dirty="0"/>
          </a:p>
        </p:txBody>
      </p:sp>
      <p:sp>
        <p:nvSpPr>
          <p:cNvPr id="19" name="Text 17"/>
          <p:cNvSpPr txBox="1"/>
          <p:nvPr/>
        </p:nvSpPr>
        <p:spPr>
          <a:xfrm>
            <a:off x="6254496" y="3127248"/>
            <a:ext cx="2359152" cy="274320"/>
          </a:xfrm>
          <a:prstGeom prst="rect">
            <a:avLst/>
          </a:prstGeom>
          <a:noFill/>
          <a:ln/>
        </p:spPr>
        <p:txBody>
          <a:bodyPr wrap="square" lIns="0" tIns="0" rIns="0" bIns="0" rtlCol="0" anchor="ctr"/>
          <a:lstStyle/>
          <a:p>
            <a:pPr indent="0" marL="0">
              <a:buNone/>
            </a:pPr>
            <a:r>
              <a:rPr lang="en-US" sz="750" b="1" dirty="0">
                <a:solidFill>
                  <a:srgbClr val="E8EEF7"/>
                </a:solidFill>
                <a:latin typeface="Calibri" pitchFamily="34" charset="0"/>
                <a:ea typeface="Calibri" pitchFamily="34" charset="-122"/>
                <a:cs typeface="Calibri" pitchFamily="34" charset="-120"/>
              </a:rPr>
              <a:t>LAYER IN LATER</a:t>
            </a:r>
            <a:endParaRPr lang="en-US" sz="750" dirty="0"/>
          </a:p>
        </p:txBody>
      </p:sp>
      <p:sp>
        <p:nvSpPr>
          <p:cNvPr id="20" name="Text 18"/>
          <p:cNvSpPr txBox="1"/>
          <p:nvPr/>
        </p:nvSpPr>
        <p:spPr>
          <a:xfrm>
            <a:off x="6254496" y="3657600"/>
            <a:ext cx="2404872" cy="2011680"/>
          </a:xfrm>
          <a:prstGeom prst="rect">
            <a:avLst/>
          </a:prstGeom>
          <a:noFill/>
          <a:ln/>
        </p:spPr>
        <p:txBody>
          <a:bodyPr wrap="square" lIns="0" tIns="0" rIns="0" bIns="0" rtlCol="0" anchor="ctr"/>
          <a:lstStyle/>
          <a:p>
            <a:pPr indent="0" marL="0">
              <a:lnSpc>
                <a:spcPct val="125000"/>
              </a:lnSpc>
              <a:buNone/>
            </a:pPr>
            <a:r>
              <a:rPr lang="en-US" sz="930" dirty="0">
                <a:solidFill>
                  <a:srgbClr val="2B2B2B"/>
                </a:solidFill>
                <a:latin typeface="Calibri" pitchFamily="34" charset="0"/>
                <a:ea typeface="Calibri" pitchFamily="34" charset="-122"/>
                <a:cs typeface="Calibri" pitchFamily="34" charset="-120"/>
              </a:rPr>
              <a:t>Charged on confirmed matches, once reputation data justifies it as "vetted introductions," not just an intro.</a:t>
            </a:r>
            <a:endParaRPr lang="en-US" sz="930" dirty="0"/>
          </a:p>
        </p:txBody>
      </p:sp>
      <p:sp>
        <p:nvSpPr>
          <p:cNvPr id="21" name="Shape 19"/>
          <p:cNvSpPr/>
          <p:nvPr/>
        </p:nvSpPr>
        <p:spPr>
          <a:xfrm>
            <a:off x="8906256" y="2606040"/>
            <a:ext cx="2679192" cy="3200400"/>
          </a:xfrm>
          <a:prstGeom prst="rect">
            <a:avLst/>
          </a:prstGeom>
          <a:solidFill>
            <a:srgbClr val="F4F6FB"/>
          </a:solidFill>
          <a:ln w="12700">
            <a:solidFill>
              <a:srgbClr val="F4F6FB"/>
            </a:solidFill>
            <a:prstDash val="solid"/>
          </a:ln>
        </p:spPr>
      </p:sp>
      <p:sp>
        <p:nvSpPr>
          <p:cNvPr id="22" name="Shape 20"/>
          <p:cNvSpPr/>
          <p:nvPr/>
        </p:nvSpPr>
        <p:spPr>
          <a:xfrm>
            <a:off x="8906256" y="2606040"/>
            <a:ext cx="2679192" cy="914400"/>
          </a:xfrm>
          <a:prstGeom prst="rect">
            <a:avLst/>
          </a:prstGeom>
          <a:solidFill>
            <a:srgbClr val="6D2E46"/>
          </a:solidFill>
          <a:ln w="12700">
            <a:solidFill>
              <a:srgbClr val="6D2E46"/>
            </a:solidFill>
            <a:prstDash val="solid"/>
          </a:ln>
        </p:spPr>
      </p:sp>
      <p:sp>
        <p:nvSpPr>
          <p:cNvPr id="23" name="Text 21"/>
          <p:cNvSpPr txBox="1"/>
          <p:nvPr/>
        </p:nvSpPr>
        <p:spPr>
          <a:xfrm>
            <a:off x="9070848" y="2679192"/>
            <a:ext cx="2359152"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Market Intelligence</a:t>
            </a:r>
            <a:endParaRPr lang="en-US" sz="1300" dirty="0"/>
          </a:p>
        </p:txBody>
      </p:sp>
      <p:sp>
        <p:nvSpPr>
          <p:cNvPr id="24" name="Text 22"/>
          <p:cNvSpPr txBox="1"/>
          <p:nvPr/>
        </p:nvSpPr>
        <p:spPr>
          <a:xfrm>
            <a:off x="9070848" y="3127248"/>
            <a:ext cx="2359152" cy="274320"/>
          </a:xfrm>
          <a:prstGeom prst="rect">
            <a:avLst/>
          </a:prstGeom>
          <a:noFill/>
          <a:ln/>
        </p:spPr>
        <p:txBody>
          <a:bodyPr wrap="square" lIns="0" tIns="0" rIns="0" bIns="0" rtlCol="0" anchor="ctr"/>
          <a:lstStyle/>
          <a:p>
            <a:pPr indent="0" marL="0">
              <a:buNone/>
            </a:pPr>
            <a:r>
              <a:rPr lang="en-US" sz="750" b="1" dirty="0">
                <a:solidFill>
                  <a:srgbClr val="E8EEF7"/>
                </a:solidFill>
                <a:latin typeface="Calibri" pitchFamily="34" charset="0"/>
                <a:ea typeface="Calibri" pitchFamily="34" charset="-122"/>
                <a:cs typeface="Calibri" pitchFamily="34" charset="-120"/>
              </a:rPr>
              <a:t>LATER-STAGE PRODUCT</a:t>
            </a:r>
            <a:endParaRPr lang="en-US" sz="750" dirty="0"/>
          </a:p>
        </p:txBody>
      </p:sp>
      <p:sp>
        <p:nvSpPr>
          <p:cNvPr id="25" name="Text 23"/>
          <p:cNvSpPr txBox="1"/>
          <p:nvPr/>
        </p:nvSpPr>
        <p:spPr>
          <a:xfrm>
            <a:off x="9070848" y="3657600"/>
            <a:ext cx="2404872" cy="2011680"/>
          </a:xfrm>
          <a:prstGeom prst="rect">
            <a:avLst/>
          </a:prstGeom>
          <a:noFill/>
          <a:ln/>
        </p:spPr>
        <p:txBody>
          <a:bodyPr wrap="square" lIns="0" tIns="0" rIns="0" bIns="0" rtlCol="0" anchor="ctr"/>
          <a:lstStyle/>
          <a:p>
            <a:pPr indent="0" marL="0">
              <a:lnSpc>
                <a:spcPct val="125000"/>
              </a:lnSpc>
              <a:buNone/>
            </a:pPr>
            <a:r>
              <a:rPr lang="en-US" sz="930" dirty="0">
                <a:solidFill>
                  <a:srgbClr val="2B2B2B"/>
                </a:solidFill>
                <a:latin typeface="Calibri" pitchFamily="34" charset="0"/>
                <a:ea typeface="Calibri" pitchFamily="34" charset="-122"/>
                <a:cs typeface="Calibri" pitchFamily="34" charset="-120"/>
              </a:rPr>
              <a:t>Sell historical pricing/demand data once auction history is genuinely differentiated — not before.</a:t>
            </a:r>
            <a:endParaRPr lang="en-US" sz="930" dirty="0"/>
          </a:p>
        </p:txBody>
      </p:sp>
      <p:sp>
        <p:nvSpPr>
          <p:cNvPr id="26" name="Shape 24"/>
          <p:cNvSpPr/>
          <p:nvPr/>
        </p:nvSpPr>
        <p:spPr>
          <a:xfrm>
            <a:off x="457200" y="5943600"/>
            <a:ext cx="11247120" cy="594360"/>
          </a:xfrm>
          <a:prstGeom prst="rect">
            <a:avLst/>
          </a:prstGeom>
          <a:solidFill>
            <a:srgbClr val="FDF0E6"/>
          </a:solidFill>
          <a:ln w="12700">
            <a:solidFill>
              <a:srgbClr val="B85042"/>
            </a:solidFill>
            <a:prstDash val="solid"/>
          </a:ln>
        </p:spPr>
      </p:sp>
      <p:sp>
        <p:nvSpPr>
          <p:cNvPr id="27" name="Text 25"/>
          <p:cNvSpPr txBox="1"/>
          <p:nvPr/>
        </p:nvSpPr>
        <p:spPr>
          <a:xfrm>
            <a:off x="640080" y="6016752"/>
            <a:ext cx="10881360" cy="457200"/>
          </a:xfrm>
          <a:prstGeom prst="rect">
            <a:avLst/>
          </a:prstGeom>
          <a:noFill/>
          <a:ln/>
        </p:spPr>
        <p:txBody>
          <a:bodyPr wrap="square" lIns="0" tIns="0" rIns="0" bIns="0" rtlCol="0" anchor="ctr"/>
          <a:lstStyle/>
          <a:p>
            <a:pPr indent="0" marL="0">
              <a:lnSpc>
                <a:spcPct val="120000"/>
              </a:lnSpc>
              <a:buNone/>
            </a:pPr>
            <a:r>
              <a:rPr lang="en-US" sz="950" i="1" dirty="0">
                <a:solidFill>
                  <a:srgbClr val="B85042"/>
                </a:solidFill>
                <a:latin typeface="Calibri" pitchFamily="34" charset="0"/>
                <a:ea typeface="Calibri" pitchFamily="34" charset="-122"/>
                <a:cs typeface="Calibri" pitchFamily="34" charset="-120"/>
              </a:rPr>
              <a:t>Structural risk: no-payment platforms leak revenue to disintermediation more easily. Contact-reveal logging (from the Matching &amp; Trust design) measures this with real data rather than guessing.</a:t>
            </a:r>
            <a:endParaRPr lang="en-US" sz="950" dirty="0"/>
          </a:p>
        </p:txBody>
      </p:sp>
      <p:sp>
        <p:nvSpPr>
          <p:cNvPr id="28" name="Text 26"/>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29" name="Text 27"/>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Governing Principle</a:t>
            </a:r>
            <a:endParaRPr lang="en-US" sz="2800" dirty="0"/>
          </a:p>
        </p:txBody>
      </p:sp>
      <p:sp>
        <p:nvSpPr>
          <p:cNvPr id="5" name="Text 3"/>
          <p:cNvSpPr txBox="1"/>
          <p:nvPr/>
        </p:nvSpPr>
        <p:spPr>
          <a:xfrm>
            <a:off x="457200" y="1828800"/>
            <a:ext cx="11247120" cy="822960"/>
          </a:xfrm>
          <a:prstGeom prst="rect">
            <a:avLst/>
          </a:prstGeom>
          <a:noFill/>
          <a:ln/>
        </p:spPr>
        <p:txBody>
          <a:bodyPr wrap="square" lIns="0" tIns="0" rIns="0" bIns="0" rtlCol="0" anchor="ctr"/>
          <a:lstStyle/>
          <a:p>
            <a:pPr indent="0" marL="0">
              <a:lnSpc>
                <a:spcPct val="130000"/>
              </a:lnSpc>
              <a:buNone/>
            </a:pPr>
            <a:r>
              <a:rPr lang="en-US" sz="1400" i="1" dirty="0">
                <a:solidFill>
                  <a:srgbClr val="2B2B2B"/>
                </a:solidFill>
                <a:latin typeface="Calibri" pitchFamily="34" charset="0"/>
                <a:ea typeface="Calibri" pitchFamily="34" charset="-122"/>
                <a:cs typeface="Calibri" pitchFamily="34" charset="-120"/>
              </a:rPr>
              <a:t>The LLM reasons and recommends. The Agentic Harness decides deterministically, persists state, and executes. MCP Servers are the only way either layer touches the outside world. The LLM never calls an external system directly.</a:t>
            </a:r>
            <a:endParaRPr lang="en-US" sz="1400" dirty="0"/>
          </a:p>
        </p:txBody>
      </p:sp>
      <p:sp>
        <p:nvSpPr>
          <p:cNvPr id="6" name="Shape 4"/>
          <p:cNvSpPr/>
          <p:nvPr/>
        </p:nvSpPr>
        <p:spPr>
          <a:xfrm>
            <a:off x="457200" y="2788920"/>
            <a:ext cx="3547872" cy="3383280"/>
          </a:xfrm>
          <a:prstGeom prst="rect">
            <a:avLst/>
          </a:prstGeom>
          <a:solidFill>
            <a:srgbClr val="F4F6FB"/>
          </a:solidFill>
          <a:ln w="12700">
            <a:solidFill>
              <a:srgbClr val="F4F6FB"/>
            </a:solidFill>
            <a:prstDash val="solid"/>
          </a:ln>
        </p:spPr>
      </p:sp>
      <p:sp>
        <p:nvSpPr>
          <p:cNvPr id="7" name="Shape 5"/>
          <p:cNvSpPr/>
          <p:nvPr/>
        </p:nvSpPr>
        <p:spPr>
          <a:xfrm>
            <a:off x="457200" y="2788920"/>
            <a:ext cx="3547872" cy="777240"/>
          </a:xfrm>
          <a:prstGeom prst="rect">
            <a:avLst/>
          </a:prstGeom>
          <a:solidFill>
            <a:srgbClr val="1E2761"/>
          </a:solidFill>
          <a:ln w="12700">
            <a:solidFill>
              <a:srgbClr val="1E2761"/>
            </a:solidFill>
            <a:prstDash val="solid"/>
          </a:ln>
        </p:spPr>
      </p:sp>
      <p:sp>
        <p:nvSpPr>
          <p:cNvPr id="8" name="Text 6"/>
          <p:cNvSpPr txBox="1"/>
          <p:nvPr/>
        </p:nvSpPr>
        <p:spPr>
          <a:xfrm>
            <a:off x="640080" y="2852928"/>
            <a:ext cx="3227832"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LLM</a:t>
            </a:r>
            <a:endParaRPr lang="en-US" sz="1800" dirty="0"/>
          </a:p>
        </p:txBody>
      </p:sp>
      <p:sp>
        <p:nvSpPr>
          <p:cNvPr id="9" name="Text 7"/>
          <p:cNvSpPr txBox="1"/>
          <p:nvPr/>
        </p:nvSpPr>
        <p:spPr>
          <a:xfrm>
            <a:off x="640080" y="3200400"/>
            <a:ext cx="322783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Strategy &amp; Reasoning</a:t>
            </a:r>
            <a:endParaRPr lang="en-US" sz="950" dirty="0"/>
          </a:p>
        </p:txBody>
      </p:sp>
      <p:sp>
        <p:nvSpPr>
          <p:cNvPr id="10" name="Text 8"/>
          <p:cNvSpPr txBox="1"/>
          <p:nvPr/>
        </p:nvSpPr>
        <p:spPr>
          <a:xfrm>
            <a:off x="640080" y="3749040"/>
            <a:ext cx="3227832" cy="22860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Game-theoretic calculation</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Natural-language negotiation</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Proposes structured actions only</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Never touches money or state directly</a:t>
            </a:r>
            <a:endParaRPr lang="en-US" sz="1000" dirty="0"/>
          </a:p>
        </p:txBody>
      </p:sp>
      <p:sp>
        <p:nvSpPr>
          <p:cNvPr id="11" name="Shape 9"/>
          <p:cNvSpPr/>
          <p:nvPr/>
        </p:nvSpPr>
        <p:spPr>
          <a:xfrm>
            <a:off x="4142232" y="2788920"/>
            <a:ext cx="3547872" cy="3383280"/>
          </a:xfrm>
          <a:prstGeom prst="rect">
            <a:avLst/>
          </a:prstGeom>
          <a:solidFill>
            <a:srgbClr val="F4F6FB"/>
          </a:solidFill>
          <a:ln w="12700">
            <a:solidFill>
              <a:srgbClr val="F4F6FB"/>
            </a:solidFill>
            <a:prstDash val="solid"/>
          </a:ln>
        </p:spPr>
      </p:sp>
      <p:sp>
        <p:nvSpPr>
          <p:cNvPr id="12" name="Shape 10"/>
          <p:cNvSpPr/>
          <p:nvPr/>
        </p:nvSpPr>
        <p:spPr>
          <a:xfrm>
            <a:off x="4142232" y="2788920"/>
            <a:ext cx="3547872" cy="777240"/>
          </a:xfrm>
          <a:prstGeom prst="rect">
            <a:avLst/>
          </a:prstGeom>
          <a:solidFill>
            <a:srgbClr val="B85042"/>
          </a:solidFill>
          <a:ln w="12700">
            <a:solidFill>
              <a:srgbClr val="B85042"/>
            </a:solidFill>
            <a:prstDash val="solid"/>
          </a:ln>
        </p:spPr>
      </p:sp>
      <p:sp>
        <p:nvSpPr>
          <p:cNvPr id="13" name="Text 11"/>
          <p:cNvSpPr txBox="1"/>
          <p:nvPr/>
        </p:nvSpPr>
        <p:spPr>
          <a:xfrm>
            <a:off x="4325112" y="2852928"/>
            <a:ext cx="3227832"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Harness</a:t>
            </a:r>
            <a:endParaRPr lang="en-US" sz="1800" dirty="0"/>
          </a:p>
        </p:txBody>
      </p:sp>
      <p:sp>
        <p:nvSpPr>
          <p:cNvPr id="14" name="Text 12"/>
          <p:cNvSpPr txBox="1"/>
          <p:nvPr/>
        </p:nvSpPr>
        <p:spPr>
          <a:xfrm>
            <a:off x="4325112" y="3200400"/>
            <a:ext cx="322783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Deterministic Execution</a:t>
            </a:r>
            <a:endParaRPr lang="en-US" sz="950" dirty="0"/>
          </a:p>
        </p:txBody>
      </p:sp>
      <p:sp>
        <p:nvSpPr>
          <p:cNvPr id="15" name="Text 13"/>
          <p:cNvSpPr txBox="1"/>
          <p:nvPr/>
        </p:nvSpPr>
        <p:spPr>
          <a:xfrm>
            <a:off x="4325112" y="3749040"/>
            <a:ext cx="3227832" cy="22860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Validates every proposal against guardrails</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Sub-200ms bid execution (English/Dutch)</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Owns persistent agent state &amp; identity</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Fires pre-approved conditional actions</a:t>
            </a:r>
            <a:endParaRPr lang="en-US" sz="1000" dirty="0"/>
          </a:p>
        </p:txBody>
      </p:sp>
      <p:sp>
        <p:nvSpPr>
          <p:cNvPr id="16" name="Shape 14"/>
          <p:cNvSpPr/>
          <p:nvPr/>
        </p:nvSpPr>
        <p:spPr>
          <a:xfrm>
            <a:off x="7827264" y="2788920"/>
            <a:ext cx="3547872" cy="3383280"/>
          </a:xfrm>
          <a:prstGeom prst="rect">
            <a:avLst/>
          </a:prstGeom>
          <a:solidFill>
            <a:srgbClr val="F4F6FB"/>
          </a:solidFill>
          <a:ln w="12700">
            <a:solidFill>
              <a:srgbClr val="F4F6FB"/>
            </a:solidFill>
            <a:prstDash val="solid"/>
          </a:ln>
        </p:spPr>
      </p:sp>
      <p:sp>
        <p:nvSpPr>
          <p:cNvPr id="17" name="Shape 15"/>
          <p:cNvSpPr/>
          <p:nvPr/>
        </p:nvSpPr>
        <p:spPr>
          <a:xfrm>
            <a:off x="7827264" y="2788920"/>
            <a:ext cx="3547872" cy="777240"/>
          </a:xfrm>
          <a:prstGeom prst="rect">
            <a:avLst/>
          </a:prstGeom>
          <a:solidFill>
            <a:srgbClr val="028090"/>
          </a:solidFill>
          <a:ln w="12700">
            <a:solidFill>
              <a:srgbClr val="028090"/>
            </a:solidFill>
            <a:prstDash val="solid"/>
          </a:ln>
        </p:spPr>
      </p:sp>
      <p:sp>
        <p:nvSpPr>
          <p:cNvPr id="18" name="Text 16"/>
          <p:cNvSpPr txBox="1"/>
          <p:nvPr/>
        </p:nvSpPr>
        <p:spPr>
          <a:xfrm>
            <a:off x="8010144" y="2852928"/>
            <a:ext cx="3227832"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MCP</a:t>
            </a:r>
            <a:endParaRPr lang="en-US" sz="1800" dirty="0"/>
          </a:p>
        </p:txBody>
      </p:sp>
      <p:sp>
        <p:nvSpPr>
          <p:cNvPr id="19" name="Text 17"/>
          <p:cNvSpPr txBox="1"/>
          <p:nvPr/>
        </p:nvSpPr>
        <p:spPr>
          <a:xfrm>
            <a:off x="8010144" y="3200400"/>
            <a:ext cx="322783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Connective Tissue</a:t>
            </a:r>
            <a:endParaRPr lang="en-US" sz="950" dirty="0"/>
          </a:p>
        </p:txBody>
      </p:sp>
      <p:sp>
        <p:nvSpPr>
          <p:cNvPr id="20" name="Text 18"/>
          <p:cNvSpPr txBox="1"/>
          <p:nvPr/>
        </p:nvSpPr>
        <p:spPr>
          <a:xfrm>
            <a:off x="8010144" y="3749040"/>
            <a:ext cx="3227832" cy="22860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Auction Engine, Match, Market Intel servers</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Only path either layer has to the outside world</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Standardized tools &amp; resources</a:t>
            </a:r>
            <a:endParaRPr lang="en-US" sz="1000" dirty="0"/>
          </a:p>
          <a:p>
            <a:pPr marL="342900" indent="-342900">
              <a:spcAft>
                <a:spcPts val="800"/>
              </a:spcAft>
              <a:buSzPct val="100000"/>
              <a:buChar char="•"/>
            </a:pPr>
            <a:r>
              <a:rPr lang="en-US" sz="1000" dirty="0">
                <a:solidFill>
                  <a:srgbClr val="2B2B2B"/>
                </a:solidFill>
                <a:latin typeface="Calibri" pitchFamily="34" charset="0"/>
                <a:ea typeface="Calibri" pitchFamily="34" charset="-122"/>
                <a:cs typeface="Calibri" pitchFamily="34" charset="-120"/>
              </a:rPr>
              <a:t>Same pattern regardless of channel</a:t>
            </a:r>
            <a:endParaRPr lang="en-US" sz="1000" dirty="0"/>
          </a:p>
        </p:txBody>
      </p:sp>
      <p:sp>
        <p:nvSpPr>
          <p:cNvPr id="21" name="Text 19"/>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22" name="Text 20"/>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System Architecture</a:t>
            </a:r>
            <a:endParaRPr lang="en-US" sz="2800" dirty="0"/>
          </a:p>
        </p:txBody>
      </p:sp>
      <p:pic>
        <p:nvPicPr>
          <p:cNvPr id="5" name="Image 0" descr="architecture.png">    </p:cNvPr>
          <p:cNvPicPr>
            <a:picLocks noChangeAspect="1"/>
          </p:cNvPicPr>
          <p:nvPr/>
        </p:nvPicPr>
        <p:blipFill>
          <a:blip r:embed="rId1"/>
          <a:srcRect l="0" r="0" t="0" b="0"/>
          <a:stretch/>
        </p:blipFill>
        <p:spPr>
          <a:xfrm>
            <a:off x="548640" y="1783080"/>
            <a:ext cx="11064240" cy="4526280"/>
          </a:xfrm>
          <a:prstGeom prst="rect">
            <a:avLst/>
          </a:prstGeom>
        </p:spPr>
      </p:pic>
      <p:sp>
        <p:nvSpPr>
          <p:cNvPr id="6" name="Text 3"/>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7" name="Text 4"/>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Bid Execution → Match Creation Sequence</a:t>
            </a:r>
            <a:endParaRPr lang="en-US" sz="2800" dirty="0"/>
          </a:p>
        </p:txBody>
      </p:sp>
      <p:pic>
        <p:nvPicPr>
          <p:cNvPr id="5" name="Image 0" descr="sequence.png">    </p:cNvPr>
          <p:cNvPicPr>
            <a:picLocks noChangeAspect="1"/>
          </p:cNvPicPr>
          <p:nvPr/>
        </p:nvPicPr>
        <p:blipFill>
          <a:blip r:embed="rId1"/>
          <a:srcRect l="0" r="0" t="0" b="0"/>
          <a:stretch/>
        </p:blipFill>
        <p:spPr>
          <a:xfrm>
            <a:off x="2194560" y="1737360"/>
            <a:ext cx="7772400" cy="4572000"/>
          </a:xfrm>
          <a:prstGeom prst="rect">
            <a:avLst/>
          </a:prstGeom>
        </p:spPr>
      </p:pic>
      <p:sp>
        <p:nvSpPr>
          <p:cNvPr id="6" name="Text 3"/>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7" name="Text 4"/>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Strategy vs. Execution — Why the Split Matters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3931920"/>
        </p:xfrm>
        <a:graphic>
          <a:graphicData uri="http://schemas.openxmlformats.org/drawingml/2006/table">
            <a:tbl>
              <a:tblPr/>
              <a:tblGrid>
                <a:gridCol w="2377440"/>
                <a:gridCol w="4434840"/>
                <a:gridCol w="4434840"/>
              </a:tblGrid>
              <a:tr h="786384">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LLM Strategy Layer</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Harness Execution Layer</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r>
              <a:tr h="786384">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Responsibility</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Decide what to do and why</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Decide whether it's allowed and do it, precisely, on time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786384">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 proposed action (structured JSON), never a direct execution</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 confirmed, executed, logged action</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786384">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Latency tolerance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Seconds — can reason, can call tools</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Milliseconds — no LLM call in this path</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786384">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Failure mode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Wrong strategy → suboptimal outcome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Failure here → missed auction, real cost to trust</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bl>
          </a:graphicData>
        </a:graphic>
      </p:graphicFrame>
      <p:sp>
        <p:nvSpPr>
          <p:cNvPr id="6" name="Text 3"/>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7" name="Text 4"/>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MCP Server Specifications</a:t>
            </a:r>
            <a:endParaRPr lang="en-US" sz="2800" dirty="0"/>
          </a:p>
        </p:txBody>
      </p:sp>
      <p:sp>
        <p:nvSpPr>
          <p:cNvPr id="5" name="Shape 3"/>
          <p:cNvSpPr/>
          <p:nvPr/>
        </p:nvSpPr>
        <p:spPr>
          <a:xfrm>
            <a:off x="457200" y="1874520"/>
            <a:ext cx="3611880" cy="4206240"/>
          </a:xfrm>
          <a:prstGeom prst="rect">
            <a:avLst/>
          </a:prstGeom>
          <a:solidFill>
            <a:srgbClr val="F4F6FB"/>
          </a:solidFill>
          <a:ln w="12700">
            <a:solidFill>
              <a:srgbClr val="F4F6FB"/>
            </a:solidFill>
            <a:prstDash val="solid"/>
          </a:ln>
        </p:spPr>
      </p:sp>
      <p:sp>
        <p:nvSpPr>
          <p:cNvPr id="6" name="Shape 4"/>
          <p:cNvSpPr/>
          <p:nvPr/>
        </p:nvSpPr>
        <p:spPr>
          <a:xfrm>
            <a:off x="457200" y="1874520"/>
            <a:ext cx="3611880" cy="640080"/>
          </a:xfrm>
          <a:prstGeom prst="rect">
            <a:avLst/>
          </a:prstGeom>
          <a:solidFill>
            <a:srgbClr val="028090"/>
          </a:solidFill>
          <a:ln w="12700">
            <a:solidFill>
              <a:srgbClr val="028090"/>
            </a:solidFill>
            <a:prstDash val="solid"/>
          </a:ln>
        </p:spPr>
      </p:sp>
      <p:sp>
        <p:nvSpPr>
          <p:cNvPr id="7" name="Text 5"/>
          <p:cNvSpPr txBox="1"/>
          <p:nvPr/>
        </p:nvSpPr>
        <p:spPr>
          <a:xfrm>
            <a:off x="640080" y="1956816"/>
            <a:ext cx="32918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Auction Engine MCP</a:t>
            </a:r>
            <a:endParaRPr lang="en-US" sz="1300" dirty="0"/>
          </a:p>
        </p:txBody>
      </p:sp>
      <p:sp>
        <p:nvSpPr>
          <p:cNvPr id="8" name="Text 6"/>
          <p:cNvSpPr txBox="1"/>
          <p:nvPr/>
        </p:nvSpPr>
        <p:spPr>
          <a:xfrm>
            <a:off x="640080" y="2697480"/>
            <a:ext cx="3291840" cy="3200400"/>
          </a:xfrm>
          <a:prstGeom prst="rect">
            <a:avLst/>
          </a:prstGeom>
          <a:noFill/>
          <a:ln/>
        </p:spPr>
        <p:txBody>
          <a:bodyPr wrap="square" lIns="0" tIns="0" rIns="0" bIns="0" rtlCol="0" anchor="ctr"/>
          <a:lstStyle/>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list_active_auctions(filters)</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get_auction_detail(auction_id)</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submit_bid() — Execution Engine only</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create_listing() / withdraw_listing()</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submit_sealed_bid()</a:t>
            </a:r>
            <a:endParaRPr lang="en-US" sz="930" dirty="0"/>
          </a:p>
        </p:txBody>
      </p:sp>
      <p:sp>
        <p:nvSpPr>
          <p:cNvPr id="9" name="Shape 7"/>
          <p:cNvSpPr/>
          <p:nvPr/>
        </p:nvSpPr>
        <p:spPr>
          <a:xfrm>
            <a:off x="4206240" y="1874520"/>
            <a:ext cx="3611880" cy="4206240"/>
          </a:xfrm>
          <a:prstGeom prst="rect">
            <a:avLst/>
          </a:prstGeom>
          <a:solidFill>
            <a:srgbClr val="F4F6FB"/>
          </a:solidFill>
          <a:ln w="12700">
            <a:solidFill>
              <a:srgbClr val="F4F6FB"/>
            </a:solidFill>
            <a:prstDash val="solid"/>
          </a:ln>
        </p:spPr>
      </p:sp>
      <p:sp>
        <p:nvSpPr>
          <p:cNvPr id="10" name="Shape 8"/>
          <p:cNvSpPr/>
          <p:nvPr/>
        </p:nvSpPr>
        <p:spPr>
          <a:xfrm>
            <a:off x="4206240" y="1874520"/>
            <a:ext cx="3611880" cy="640080"/>
          </a:xfrm>
          <a:prstGeom prst="rect">
            <a:avLst/>
          </a:prstGeom>
          <a:solidFill>
            <a:srgbClr val="6D2E46"/>
          </a:solidFill>
          <a:ln w="12700">
            <a:solidFill>
              <a:srgbClr val="6D2E46"/>
            </a:solidFill>
            <a:prstDash val="solid"/>
          </a:ln>
        </p:spPr>
      </p:sp>
      <p:sp>
        <p:nvSpPr>
          <p:cNvPr id="11" name="Text 9"/>
          <p:cNvSpPr txBox="1"/>
          <p:nvPr/>
        </p:nvSpPr>
        <p:spPr>
          <a:xfrm>
            <a:off x="4389120" y="1956816"/>
            <a:ext cx="32918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Match / Introduction MCP</a:t>
            </a:r>
            <a:endParaRPr lang="en-US" sz="1300" dirty="0"/>
          </a:p>
        </p:txBody>
      </p:sp>
      <p:sp>
        <p:nvSpPr>
          <p:cNvPr id="12" name="Text 10"/>
          <p:cNvSpPr txBox="1"/>
          <p:nvPr/>
        </p:nvSpPr>
        <p:spPr>
          <a:xfrm>
            <a:off x="4389120" y="2697480"/>
            <a:ext cx="3291840" cy="3200400"/>
          </a:xfrm>
          <a:prstGeom prst="rect">
            <a:avLst/>
          </a:prstGeom>
          <a:noFill/>
          <a:ln/>
        </p:spPr>
        <p:txBody>
          <a:bodyPr wrap="square" lIns="0" tIns="0" rIns="0" bIns="0" rtlCol="0" anchor="ctr"/>
          <a:lstStyle/>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create_match() on auction close</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confirm_match(match_id, agent_id)</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reveal_contact() — on double-confirm</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report_outcome() — feeds reputation</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get_match_status()</a:t>
            </a:r>
            <a:endParaRPr lang="en-US" sz="930" dirty="0"/>
          </a:p>
        </p:txBody>
      </p:sp>
      <p:sp>
        <p:nvSpPr>
          <p:cNvPr id="13" name="Shape 11"/>
          <p:cNvSpPr/>
          <p:nvPr/>
        </p:nvSpPr>
        <p:spPr>
          <a:xfrm>
            <a:off x="7955280" y="1874520"/>
            <a:ext cx="3611880" cy="4206240"/>
          </a:xfrm>
          <a:prstGeom prst="rect">
            <a:avLst/>
          </a:prstGeom>
          <a:solidFill>
            <a:srgbClr val="F4F6FB"/>
          </a:solidFill>
          <a:ln w="12700">
            <a:solidFill>
              <a:srgbClr val="F4F6FB"/>
            </a:solidFill>
            <a:prstDash val="solid"/>
          </a:ln>
        </p:spPr>
      </p:sp>
      <p:sp>
        <p:nvSpPr>
          <p:cNvPr id="14" name="Shape 12"/>
          <p:cNvSpPr/>
          <p:nvPr/>
        </p:nvSpPr>
        <p:spPr>
          <a:xfrm>
            <a:off x="7955280" y="1874520"/>
            <a:ext cx="3611880" cy="640080"/>
          </a:xfrm>
          <a:prstGeom prst="rect">
            <a:avLst/>
          </a:prstGeom>
          <a:solidFill>
            <a:srgbClr val="2F3C7E"/>
          </a:solidFill>
          <a:ln w="12700">
            <a:solidFill>
              <a:srgbClr val="2F3C7E"/>
            </a:solidFill>
            <a:prstDash val="solid"/>
          </a:ln>
        </p:spPr>
      </p:sp>
      <p:sp>
        <p:nvSpPr>
          <p:cNvPr id="15" name="Text 13"/>
          <p:cNvSpPr txBox="1"/>
          <p:nvPr/>
        </p:nvSpPr>
        <p:spPr>
          <a:xfrm>
            <a:off x="8138160" y="1956816"/>
            <a:ext cx="32918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Market Intelligence MCP</a:t>
            </a:r>
            <a:endParaRPr lang="en-US" sz="1300" dirty="0"/>
          </a:p>
        </p:txBody>
      </p:sp>
      <p:sp>
        <p:nvSpPr>
          <p:cNvPr id="16" name="Text 14"/>
          <p:cNvSpPr txBox="1"/>
          <p:nvPr/>
        </p:nvSpPr>
        <p:spPr>
          <a:xfrm>
            <a:off x="8138160" y="2697480"/>
            <a:ext cx="3291840" cy="3200400"/>
          </a:xfrm>
          <a:prstGeom prst="rect">
            <a:avLst/>
          </a:prstGeom>
          <a:noFill/>
          <a:ln/>
        </p:spPr>
        <p:txBody>
          <a:bodyPr wrap="square" lIns="0" tIns="0" rIns="0" bIns="0" rtlCol="0" anchor="ctr"/>
          <a:lstStyle/>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get_historical_clearing_prices()</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get_demand_signal(category)</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get_comparable_active_auctions()</a:t>
            </a:r>
            <a:endParaRPr lang="en-US" sz="930" dirty="0"/>
          </a:p>
          <a:p>
            <a:pPr marL="342900" indent="-342900">
              <a:spcAft>
                <a:spcPts val="1000"/>
              </a:spcAft>
              <a:buSzPct val="100000"/>
              <a:buChar char="•"/>
            </a:pPr>
            <a:r>
              <a:rPr lang="en-US" sz="930" dirty="0">
                <a:solidFill>
                  <a:srgbClr val="2B2B2B"/>
                </a:solidFill>
                <a:latin typeface="Courier New" pitchFamily="34" charset="0"/>
                <a:ea typeface="Courier New" pitchFamily="34" charset="-122"/>
                <a:cs typeface="Courier New" pitchFamily="34" charset="-120"/>
              </a:rPr>
              <a:t>forecast_price_trajectory() — later phase</a:t>
            </a:r>
            <a:endParaRPr lang="en-US" sz="930" dirty="0"/>
          </a:p>
        </p:txBody>
      </p:sp>
      <p:sp>
        <p:nvSpPr>
          <p:cNvPr id="17" name="Text 15"/>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8" name="Text 16"/>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AUCTION MECHANICS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How Strategy &amp; Execution Adapt Per Auction Type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47120" cy="4114800"/>
        </p:xfrm>
        <a:graphic>
          <a:graphicData uri="http://schemas.openxmlformats.org/drawingml/2006/table">
            <a:tbl>
              <a:tblPr/>
              <a:tblGrid>
                <a:gridCol w="2560320"/>
                <a:gridCol w="4343400"/>
                <a:gridCol w="4343400"/>
              </a:tblGrid>
              <a:tr h="6858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LLM Strategy Role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Harness Execution Role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r>
              <a:tr h="68580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English (ascending)</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Max willingness-to-pay; increment pacing; snipe timing</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Hot-path state machine fires the trigger bid instantly</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8580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Dutch (descending)</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Stopping-time optimization for accept threshold</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Watches price-decrement feed; fires at threshold — latency is existential</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68580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Vickrey (2nd-price sealed)</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Estimate true value — truthful bidding is dominant</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Submit once before deadline; retry-safe, not speed-critical</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68580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Multi-Unit (later)</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Quantity-price demand schedule, not a single number</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Submit schedule; adjust holds as partial fills occur</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68580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Combinatorial (later)</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Valuations per meaningful bundle</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Hand to winner-determination solver; execute winning bundle</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7" name="Text 4"/>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MATCHING &amp; TRUST</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Spec-Matching: Deterministic Pre-Filter, Then LLM</a:t>
            </a:r>
            <a:endParaRPr lang="en-US" sz="2800" dirty="0"/>
          </a:p>
        </p:txBody>
      </p:sp>
      <p:pic>
        <p:nvPicPr>
          <p:cNvPr id="5" name="Image 0" descr="algo_flow.png">    </p:cNvPr>
          <p:cNvPicPr>
            <a:picLocks noChangeAspect="1"/>
          </p:cNvPicPr>
          <p:nvPr/>
        </p:nvPicPr>
        <p:blipFill>
          <a:blip r:embed="rId1"/>
          <a:srcRect l="0" r="0" t="0" b="0"/>
          <a:stretch/>
        </p:blipFill>
        <p:spPr>
          <a:xfrm>
            <a:off x="914400" y="2103120"/>
            <a:ext cx="10332720" cy="2103120"/>
          </a:xfrm>
          <a:prstGeom prst="rect">
            <a:avLst/>
          </a:prstGeom>
        </p:spPr>
      </p:pic>
      <p:sp>
        <p:nvSpPr>
          <p:cNvPr id="6" name="Text 3"/>
          <p:cNvSpPr txBox="1"/>
          <p:nvPr/>
        </p:nvSpPr>
        <p:spPr>
          <a:xfrm>
            <a:off x="914400" y="4572000"/>
            <a:ext cx="10332720" cy="1188720"/>
          </a:xfrm>
          <a:prstGeom prst="rect">
            <a:avLst/>
          </a:prstGeom>
          <a:noFill/>
          <a:ln/>
        </p:spPr>
        <p:txBody>
          <a:bodyPr wrap="square" lIns="0" tIns="0" rIns="0" bIns="0" rtlCol="0" anchor="ctr"/>
          <a:lstStyle/>
          <a:p>
            <a:pPr indent="0" marL="0">
              <a:lnSpc>
                <a:spcPct val="130000"/>
              </a:lnSpc>
              <a:buNone/>
            </a:pPr>
            <a:r>
              <a:rPr lang="en-US" sz="1250" dirty="0">
                <a:solidFill>
                  <a:srgbClr val="2B2B2B"/>
                </a:solidFill>
                <a:latin typeface="Calibri" pitchFamily="34" charset="0"/>
                <a:ea typeface="Calibri" pitchFamily="34" charset="-122"/>
                <a:cs typeface="Calibri" pitchFamily="34" charset="-120"/>
              </a:rPr>
              <a:t>Hard constraints (price, quantity, deadline, category) are filtered deterministically — no LLM call, sub-second. The LLM only reasons over the resulting shortlist: fuzzy spec fit, ranking, and borderline judgment calls. This keeps the expensive reasoning step scoped to what it's actually good at, and keeps the system responsive as listing volume grows.</a:t>
            </a:r>
            <a:endParaRPr lang="en-US" sz="12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MATCHING &amp; TRUST</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Reputation Tiers &amp; Contact-Reveal Timing</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7132320" cy="2377440"/>
        </p:xfrm>
        <a:graphic>
          <a:graphicData uri="http://schemas.openxmlformats.org/drawingml/2006/table">
            <a:tbl>
              <a:tblPr/>
              <a:tblGrid>
                <a:gridCol w="1645920"/>
                <a:gridCol w="2743200"/>
                <a:gridCol w="2743200"/>
              </a:tblGrid>
              <a:tr h="5943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Tier</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Criteria</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Unlocks</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r>
              <a:tr h="59436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New</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 completed matches</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Low-stakes auctions only, labeled transparently</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9436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Established</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 matches, &lt;20% fall-through</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Full access to all auction types &amp; value ranges</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59436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Trusted</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 matches, &lt;10% fall-through</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Priority visibility, invite-only high-value listings</a:t>
                      </a:r>
                      <a:endParaRPr lang="en-US" sz="10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6" name="Shape 3"/>
          <p:cNvSpPr/>
          <p:nvPr/>
        </p:nvSpPr>
        <p:spPr>
          <a:xfrm>
            <a:off x="7818120" y="1828800"/>
            <a:ext cx="3886200" cy="4434840"/>
          </a:xfrm>
          <a:prstGeom prst="rect">
            <a:avLst/>
          </a:prstGeom>
          <a:solidFill>
            <a:srgbClr val="EAF4F0"/>
          </a:solidFill>
          <a:ln w="12700">
            <a:solidFill>
              <a:srgbClr val="028090"/>
            </a:solidFill>
            <a:prstDash val="solid"/>
          </a:ln>
        </p:spPr>
      </p:sp>
      <p:sp>
        <p:nvSpPr>
          <p:cNvPr id="7" name="Text 4"/>
          <p:cNvSpPr txBox="1"/>
          <p:nvPr/>
        </p:nvSpPr>
        <p:spPr>
          <a:xfrm>
            <a:off x="8001000" y="1965960"/>
            <a:ext cx="3566160" cy="54864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Contact Reveal: Default = Immediate</a:t>
            </a:r>
            <a:endParaRPr lang="en-US" sz="1250" dirty="0"/>
          </a:p>
        </p:txBody>
      </p:sp>
      <p:sp>
        <p:nvSpPr>
          <p:cNvPr id="8" name="Text 5"/>
          <p:cNvSpPr txBox="1"/>
          <p:nvPr/>
        </p:nvSpPr>
        <p:spPr>
          <a:xfrm>
            <a:off x="8001000" y="2606040"/>
            <a:ext cx="3566160" cy="3474720"/>
          </a:xfrm>
          <a:prstGeom prst="rect">
            <a:avLst/>
          </a:prstGeom>
          <a:noFill/>
          <a:ln/>
        </p:spPr>
        <p:txBody>
          <a:bodyPr wrap="square" lIns="0" tIns="0" rIns="0" bIns="0" rtlCol="0" anchor="ctr"/>
          <a:lstStyle/>
          <a:p>
            <a:pPr indent="0" marL="0">
              <a:lnSpc>
                <a:spcPct val="130000"/>
              </a:lnSpc>
              <a:buNone/>
            </a:pPr>
            <a:r>
              <a:rPr lang="en-US" sz="1050" dirty="0">
                <a:solidFill>
                  <a:srgbClr val="2B2B2B"/>
                </a:solidFill>
                <a:latin typeface="Calibri" pitchFamily="34" charset="0"/>
                <a:ea typeface="Calibri" pitchFamily="34" charset="-122"/>
                <a:cs typeface="Calibri" pitchFamily="34" charset="-120"/>
              </a:rPr>
              <a:t>No artificial delay on double-confirmation. The prototype's job is proving match quality, not building bypass-prevention friction before there's data to justify it.</a:t>
            </a:r>
            <a:endParaRPr lang="en-US" sz="1050" dirty="0"/>
          </a:p>
          <a:p>
            <a:pPr indent="0" marL="0">
              <a:lnSpc>
                <a:spcPct val="130000"/>
              </a:lnSpc>
              <a:buNone/>
            </a:pPr>
            <a:endParaRPr lang="en-US" sz="1050" dirty="0"/>
          </a:p>
          <a:p>
            <a:pPr indent="0" marL="0">
              <a:lnSpc>
                <a:spcPct val="130000"/>
              </a:lnSpc>
              <a:buNone/>
            </a:pPr>
            <a:r>
              <a:rPr lang="en-US" sz="1050" dirty="0">
                <a:solidFill>
                  <a:srgbClr val="2B2B2B"/>
                </a:solidFill>
                <a:latin typeface="Calibri" pitchFamily="34" charset="0"/>
                <a:ea typeface="Calibri" pitchFamily="34" charset="-122"/>
                <a:cs typeface="Calibri" pitchFamily="34" charset="-120"/>
              </a:rPr>
              <a:t>Every reveal event is logged and tied to the later outcome report — real signal on repeat-pair platform bypass, to inform any future changes.</a:t>
            </a:r>
            <a:endParaRPr lang="en-US" sz="1050" dirty="0"/>
          </a:p>
        </p:txBody>
      </p:sp>
      <p:sp>
        <p:nvSpPr>
          <p:cNvPr id="9" name="Text 6"/>
          <p:cNvSpPr txBox="1"/>
          <p:nvPr/>
        </p:nvSpPr>
        <p:spPr>
          <a:xfrm>
            <a:off x="457200" y="4434840"/>
            <a:ext cx="7132320" cy="1737360"/>
          </a:xfrm>
          <a:prstGeom prst="rect">
            <a:avLst/>
          </a:prstGeom>
          <a:noFill/>
          <a:ln/>
        </p:spPr>
        <p:txBody>
          <a:bodyPr wrap="square" lIns="0" tIns="0" rIns="0" bIns="0" rtlCol="0" anchor="ctr"/>
          <a:lstStyle/>
          <a:p>
            <a:pPr indent="0" marL="0">
              <a:lnSpc>
                <a:spcPct val="130000"/>
              </a:lnSpc>
              <a:buNone/>
            </a:pPr>
            <a:r>
              <a:rPr lang="en-US" sz="1050" i="1" dirty="0">
                <a:solidFill>
                  <a:srgbClr val="2B2B2B"/>
                </a:solidFill>
                <a:latin typeface="Calibri" pitchFamily="34" charset="0"/>
                <a:ea typeface="Calibri" pitchFamily="34" charset="-122"/>
                <a:cs typeface="Calibri" pitchFamily="34" charset="-120"/>
              </a:rPr>
              <a:t>Value-based gating (not auction-type gating) targets the actual risk: a flaky new agent wasting a high-value counterparty's time — without blocking new agents from exercising every auction mechanic.</a:t>
            </a:r>
            <a:endParaRPr lang="en-US" sz="1050" dirty="0"/>
          </a:p>
        </p:txBody>
      </p:sp>
      <p:sp>
        <p:nvSpPr>
          <p:cNvPr id="10" name="Text 7"/>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1" name="Text 8"/>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Seller Dashboard (Web)</a:t>
            </a:r>
            <a:endParaRPr lang="en-US" sz="2800" dirty="0"/>
          </a:p>
        </p:txBody>
      </p:sp>
      <p:pic>
        <p:nvPicPr>
          <p:cNvPr id="5" name="Image 0" descr="wf_seller_dashboard.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Amina's Listing Agent: active listings across auction types, summary stats, and a live agent-activity feed.</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New Listing Flow (Seller)</a:t>
            </a:r>
            <a:endParaRPr lang="en-US" sz="2800" dirty="0"/>
          </a:p>
        </p:txBody>
      </p:sp>
      <p:pic>
        <p:nvPicPr>
          <p:cNvPr id="5" name="Image 0" descr="wf_new_listing.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The Listing Agent pre-selects and explains its auction-type recommendation, based on Market Intelligence, rather than hiding it behind the pick.</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Live Auction View — Bidder Side</a:t>
            </a:r>
            <a:endParaRPr lang="en-US" sz="2800" dirty="0"/>
          </a:p>
        </p:txBody>
      </p:sp>
      <p:pic>
        <p:nvPicPr>
          <p:cNvPr id="5" name="Image 0" descr="wf_bidder_live.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David's Customer Avatar mid-auction, with a transparency panel showing the LLM's live strategic reasoning.</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Find Auctions — Discovery (Bidder)</a:t>
            </a:r>
            <a:endParaRPr lang="en-US" sz="2800" dirty="0"/>
          </a:p>
        </p:txBody>
      </p:sp>
      <p:pic>
        <p:nvPicPr>
          <p:cNvPr id="5" name="Image 0" descr="wf_find_auctions.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Deterministic filters (from standing constraints) narrow the pool; the LLM then ranks the shortlist by genuine fit and explains each score.</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Match Confirmation Screen</a:t>
            </a:r>
            <a:endParaRPr lang="en-US" sz="2800" dirty="0"/>
          </a:p>
        </p:txBody>
      </p:sp>
      <p:pic>
        <p:nvPicPr>
          <p:cNvPr id="5" name="Image 0" descr="wf_match_confirm.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A visible status stepper makes the reveal-timing mechanism legible; delivery &amp; payment happen directly between the parties.</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WIREFRAMES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Omnichannel Continuity — WhatsApp to Web</a:t>
            </a:r>
            <a:endParaRPr lang="en-US" sz="2800" dirty="0"/>
          </a:p>
        </p:txBody>
      </p:sp>
      <p:pic>
        <p:nvPicPr>
          <p:cNvPr id="5" name="Image 0" descr="wf_whatsapp.png">    </p:cNvPr>
          <p:cNvPicPr>
            <a:picLocks noChangeAspect="1"/>
          </p:cNvPicPr>
          <p:nvPr/>
        </p:nvPicPr>
        <p:blipFill>
          <a:blip r:embed="rId1"/>
          <a:srcRect l="0" r="0" t="0" b="0"/>
          <a:stretch/>
        </p:blipFill>
        <p:spPr>
          <a:xfrm>
            <a:off x="1463040" y="1783080"/>
            <a:ext cx="9235440" cy="4160520"/>
          </a:xfrm>
          <a:prstGeom prst="rect">
            <a:avLst/>
          </a:prstGeom>
        </p:spPr>
      </p:pic>
      <p:sp>
        <p:nvSpPr>
          <p:cNvPr id="6" name="Text 3"/>
          <p:cNvSpPr txBox="1"/>
          <p:nvPr/>
        </p:nvSpPr>
        <p:spPr>
          <a:xfrm>
            <a:off x="548640" y="6080760"/>
            <a:ext cx="11064240" cy="45720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Same agent, same memory: a WhatsApp conversation and a Web session share one continuous state.</a:t>
            </a:r>
            <a:endParaRPr lang="en-US" sz="1050" dirty="0"/>
          </a:p>
        </p:txBody>
      </p:sp>
      <p:sp>
        <p:nvSpPr>
          <p:cNvPr id="7" name="Text 4"/>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8" name="Text 5"/>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ROLLOUT</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Four Prototyping Milestones, Sequenced by Risk</a:t>
            </a:r>
            <a:endParaRPr lang="en-US" sz="2800" dirty="0"/>
          </a:p>
        </p:txBody>
      </p:sp>
      <p:sp>
        <p:nvSpPr>
          <p:cNvPr id="5" name="Shape 3"/>
          <p:cNvSpPr/>
          <p:nvPr/>
        </p:nvSpPr>
        <p:spPr>
          <a:xfrm>
            <a:off x="457200" y="1920240"/>
            <a:ext cx="2679192" cy="3931920"/>
          </a:xfrm>
          <a:prstGeom prst="rect">
            <a:avLst/>
          </a:prstGeom>
          <a:solidFill>
            <a:srgbClr val="F4F6FB"/>
          </a:solidFill>
          <a:ln w="12700">
            <a:solidFill>
              <a:srgbClr val="F4F6FB"/>
            </a:solidFill>
            <a:prstDash val="solid"/>
          </a:ln>
        </p:spPr>
      </p:sp>
      <p:sp>
        <p:nvSpPr>
          <p:cNvPr id="6" name="Shape 4"/>
          <p:cNvSpPr/>
          <p:nvPr/>
        </p:nvSpPr>
        <p:spPr>
          <a:xfrm>
            <a:off x="457200" y="1920240"/>
            <a:ext cx="2679192" cy="822960"/>
          </a:xfrm>
          <a:prstGeom prst="rect">
            <a:avLst/>
          </a:prstGeom>
          <a:solidFill>
            <a:srgbClr val="1E2761"/>
          </a:solidFill>
          <a:ln w="12700">
            <a:solidFill>
              <a:srgbClr val="1E2761"/>
            </a:solidFill>
            <a:prstDash val="solid"/>
          </a:ln>
        </p:spPr>
      </p:sp>
      <p:sp>
        <p:nvSpPr>
          <p:cNvPr id="7" name="Text 5"/>
          <p:cNvSpPr txBox="1"/>
          <p:nvPr/>
        </p:nvSpPr>
        <p:spPr>
          <a:xfrm>
            <a:off x="640080" y="1993392"/>
            <a:ext cx="2359152"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M1</a:t>
            </a:r>
            <a:endParaRPr lang="en-US" sz="2200" dirty="0"/>
          </a:p>
        </p:txBody>
      </p:sp>
      <p:sp>
        <p:nvSpPr>
          <p:cNvPr id="8" name="Text 6"/>
          <p:cNvSpPr txBox="1"/>
          <p:nvPr/>
        </p:nvSpPr>
        <p:spPr>
          <a:xfrm>
            <a:off x="640080" y="2880360"/>
            <a:ext cx="2359152"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Prove Execution</a:t>
            </a:r>
            <a:endParaRPr lang="en-US" sz="1300" dirty="0"/>
          </a:p>
        </p:txBody>
      </p:sp>
      <p:sp>
        <p:nvSpPr>
          <p:cNvPr id="9" name="Text 7"/>
          <p:cNvSpPr txBox="1"/>
          <p:nvPr/>
        </p:nvSpPr>
        <p:spPr>
          <a:xfrm>
            <a:off x="640080" y="3474720"/>
            <a:ext cx="2359152" cy="2194560"/>
          </a:xfrm>
          <a:prstGeom prst="rect">
            <a:avLst/>
          </a:prstGeom>
          <a:noFill/>
          <a:ln/>
        </p:spPr>
        <p:txBody>
          <a:bodyPr wrap="square" lIns="0" tIns="0" rIns="0" bIns="0" rtlCol="0" anchor="ctr"/>
          <a:lstStyle/>
          <a:p>
            <a:pPr indent="0" marL="0">
              <a:lnSpc>
                <a:spcPct val="125000"/>
              </a:lnSpc>
              <a:buNone/>
            </a:pPr>
            <a:r>
              <a:rPr lang="en-US" sz="970" dirty="0">
                <a:solidFill>
                  <a:srgbClr val="2B2B2B"/>
                </a:solidFill>
                <a:latin typeface="Calibri" pitchFamily="34" charset="0"/>
                <a:ea typeface="Calibri" pitchFamily="34" charset="-122"/>
                <a:cs typeface="Calibri" pitchFamily="34" charset="-120"/>
              </a:rPr>
              <a:t>Web only, English auction only, hardcoded bidder strategy. Validates the highest-risk technical piece: deterministic, low-latency bid execution.</a:t>
            </a:r>
            <a:endParaRPr lang="en-US" sz="970" dirty="0"/>
          </a:p>
        </p:txBody>
      </p:sp>
      <p:sp>
        <p:nvSpPr>
          <p:cNvPr id="10" name="Shape 8"/>
          <p:cNvSpPr/>
          <p:nvPr/>
        </p:nvSpPr>
        <p:spPr>
          <a:xfrm>
            <a:off x="3273552" y="1920240"/>
            <a:ext cx="2679192" cy="3931920"/>
          </a:xfrm>
          <a:prstGeom prst="rect">
            <a:avLst/>
          </a:prstGeom>
          <a:solidFill>
            <a:srgbClr val="F4F6FB"/>
          </a:solidFill>
          <a:ln w="12700">
            <a:solidFill>
              <a:srgbClr val="F4F6FB"/>
            </a:solidFill>
            <a:prstDash val="solid"/>
          </a:ln>
        </p:spPr>
      </p:sp>
      <p:sp>
        <p:nvSpPr>
          <p:cNvPr id="11" name="Shape 9"/>
          <p:cNvSpPr/>
          <p:nvPr/>
        </p:nvSpPr>
        <p:spPr>
          <a:xfrm>
            <a:off x="3273552" y="1920240"/>
            <a:ext cx="2679192" cy="822960"/>
          </a:xfrm>
          <a:prstGeom prst="rect">
            <a:avLst/>
          </a:prstGeom>
          <a:solidFill>
            <a:srgbClr val="B85042"/>
          </a:solidFill>
          <a:ln w="12700">
            <a:solidFill>
              <a:srgbClr val="B85042"/>
            </a:solidFill>
            <a:prstDash val="solid"/>
          </a:ln>
        </p:spPr>
      </p:sp>
      <p:sp>
        <p:nvSpPr>
          <p:cNvPr id="12" name="Text 10"/>
          <p:cNvSpPr txBox="1"/>
          <p:nvPr/>
        </p:nvSpPr>
        <p:spPr>
          <a:xfrm>
            <a:off x="3456432" y="1993392"/>
            <a:ext cx="2359152"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M2</a:t>
            </a:r>
            <a:endParaRPr lang="en-US" sz="2200" dirty="0"/>
          </a:p>
        </p:txBody>
      </p:sp>
      <p:sp>
        <p:nvSpPr>
          <p:cNvPr id="13" name="Text 11"/>
          <p:cNvSpPr txBox="1"/>
          <p:nvPr/>
        </p:nvSpPr>
        <p:spPr>
          <a:xfrm>
            <a:off x="3456432" y="2880360"/>
            <a:ext cx="2359152"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Prove Strategy</a:t>
            </a:r>
            <a:endParaRPr lang="en-US" sz="1300" dirty="0"/>
          </a:p>
        </p:txBody>
      </p:sp>
      <p:sp>
        <p:nvSpPr>
          <p:cNvPr id="14" name="Text 12"/>
          <p:cNvSpPr txBox="1"/>
          <p:nvPr/>
        </p:nvSpPr>
        <p:spPr>
          <a:xfrm>
            <a:off x="3456432" y="3474720"/>
            <a:ext cx="2359152" cy="2194560"/>
          </a:xfrm>
          <a:prstGeom prst="rect">
            <a:avLst/>
          </a:prstGeom>
          <a:noFill/>
          <a:ln/>
        </p:spPr>
        <p:txBody>
          <a:bodyPr wrap="square" lIns="0" tIns="0" rIns="0" bIns="0" rtlCol="0" anchor="ctr"/>
          <a:lstStyle/>
          <a:p>
            <a:pPr indent="0" marL="0">
              <a:lnSpc>
                <a:spcPct val="125000"/>
              </a:lnSpc>
              <a:buNone/>
            </a:pPr>
            <a:r>
              <a:rPr lang="en-US" sz="970" dirty="0">
                <a:solidFill>
                  <a:srgbClr val="2B2B2B"/>
                </a:solidFill>
                <a:latin typeface="Calibri" pitchFamily="34" charset="0"/>
                <a:ea typeface="Calibri" pitchFamily="34" charset="-122"/>
                <a:cs typeface="Calibri" pitchFamily="34" charset="-120"/>
              </a:rPr>
              <a:t>Add Dutch auction + real LLM reasoning + Match MCP. A/B the LLM bidder against the naive M1 bidder — the core value-prop test.</a:t>
            </a:r>
            <a:endParaRPr lang="en-US" sz="970" dirty="0"/>
          </a:p>
        </p:txBody>
      </p:sp>
      <p:sp>
        <p:nvSpPr>
          <p:cNvPr id="15" name="Shape 13"/>
          <p:cNvSpPr/>
          <p:nvPr/>
        </p:nvSpPr>
        <p:spPr>
          <a:xfrm>
            <a:off x="6089904" y="1920240"/>
            <a:ext cx="2679192" cy="3931920"/>
          </a:xfrm>
          <a:prstGeom prst="rect">
            <a:avLst/>
          </a:prstGeom>
          <a:solidFill>
            <a:srgbClr val="F4F6FB"/>
          </a:solidFill>
          <a:ln w="12700">
            <a:solidFill>
              <a:srgbClr val="F4F6FB"/>
            </a:solidFill>
            <a:prstDash val="solid"/>
          </a:ln>
        </p:spPr>
      </p:sp>
      <p:sp>
        <p:nvSpPr>
          <p:cNvPr id="16" name="Shape 14"/>
          <p:cNvSpPr/>
          <p:nvPr/>
        </p:nvSpPr>
        <p:spPr>
          <a:xfrm>
            <a:off x="6089904" y="1920240"/>
            <a:ext cx="2679192" cy="822960"/>
          </a:xfrm>
          <a:prstGeom prst="rect">
            <a:avLst/>
          </a:prstGeom>
          <a:solidFill>
            <a:srgbClr val="028090"/>
          </a:solidFill>
          <a:ln w="12700">
            <a:solidFill>
              <a:srgbClr val="028090"/>
            </a:solidFill>
            <a:prstDash val="solid"/>
          </a:ln>
        </p:spPr>
      </p:sp>
      <p:sp>
        <p:nvSpPr>
          <p:cNvPr id="17" name="Text 15"/>
          <p:cNvSpPr txBox="1"/>
          <p:nvPr/>
        </p:nvSpPr>
        <p:spPr>
          <a:xfrm>
            <a:off x="6272784" y="1993392"/>
            <a:ext cx="2359152"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M3</a:t>
            </a:r>
            <a:endParaRPr lang="en-US" sz="2200" dirty="0"/>
          </a:p>
        </p:txBody>
      </p:sp>
      <p:sp>
        <p:nvSpPr>
          <p:cNvPr id="18" name="Text 16"/>
          <p:cNvSpPr txBox="1"/>
          <p:nvPr/>
        </p:nvSpPr>
        <p:spPr>
          <a:xfrm>
            <a:off x="6272784" y="2880360"/>
            <a:ext cx="2359152"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Prove Portability &amp; Trust</a:t>
            </a:r>
            <a:endParaRPr lang="en-US" sz="1300" dirty="0"/>
          </a:p>
        </p:txBody>
      </p:sp>
      <p:sp>
        <p:nvSpPr>
          <p:cNvPr id="19" name="Text 17"/>
          <p:cNvSpPr txBox="1"/>
          <p:nvPr/>
        </p:nvSpPr>
        <p:spPr>
          <a:xfrm>
            <a:off x="6272784" y="3474720"/>
            <a:ext cx="2359152" cy="2194560"/>
          </a:xfrm>
          <a:prstGeom prst="rect">
            <a:avLst/>
          </a:prstGeom>
          <a:noFill/>
          <a:ln/>
        </p:spPr>
        <p:txBody>
          <a:bodyPr wrap="square" lIns="0" tIns="0" rIns="0" bIns="0" rtlCol="0" anchor="ctr"/>
          <a:lstStyle/>
          <a:p>
            <a:pPr indent="0" marL="0">
              <a:lnSpc>
                <a:spcPct val="125000"/>
              </a:lnSpc>
              <a:buNone/>
            </a:pPr>
            <a:r>
              <a:rPr lang="en-US" sz="970" dirty="0">
                <a:solidFill>
                  <a:srgbClr val="2B2B2B"/>
                </a:solidFill>
                <a:latin typeface="Calibri" pitchFamily="34" charset="0"/>
                <a:ea typeface="Calibri" pitchFamily="34" charset="-122"/>
                <a:cs typeface="Calibri" pitchFamily="34" charset="-120"/>
              </a:rPr>
              <a:t>Add WhatsApp, test cross-channel continuity, add reputation scoring from outcome reports.</a:t>
            </a:r>
            <a:endParaRPr lang="en-US" sz="970" dirty="0"/>
          </a:p>
        </p:txBody>
      </p:sp>
      <p:sp>
        <p:nvSpPr>
          <p:cNvPr id="20" name="Shape 18"/>
          <p:cNvSpPr/>
          <p:nvPr/>
        </p:nvSpPr>
        <p:spPr>
          <a:xfrm>
            <a:off x="8906256" y="1920240"/>
            <a:ext cx="2679192" cy="3931920"/>
          </a:xfrm>
          <a:prstGeom prst="rect">
            <a:avLst/>
          </a:prstGeom>
          <a:solidFill>
            <a:srgbClr val="F4F6FB"/>
          </a:solidFill>
          <a:ln w="12700">
            <a:solidFill>
              <a:srgbClr val="F4F6FB"/>
            </a:solidFill>
            <a:prstDash val="solid"/>
          </a:ln>
        </p:spPr>
      </p:sp>
      <p:sp>
        <p:nvSpPr>
          <p:cNvPr id="21" name="Shape 19"/>
          <p:cNvSpPr/>
          <p:nvPr/>
        </p:nvSpPr>
        <p:spPr>
          <a:xfrm>
            <a:off x="8906256" y="1920240"/>
            <a:ext cx="2679192" cy="822960"/>
          </a:xfrm>
          <a:prstGeom prst="rect">
            <a:avLst/>
          </a:prstGeom>
          <a:solidFill>
            <a:srgbClr val="6D2E46"/>
          </a:solidFill>
          <a:ln w="12700">
            <a:solidFill>
              <a:srgbClr val="6D2E46"/>
            </a:solidFill>
            <a:prstDash val="solid"/>
          </a:ln>
        </p:spPr>
      </p:sp>
      <p:sp>
        <p:nvSpPr>
          <p:cNvPr id="22" name="Text 20"/>
          <p:cNvSpPr txBox="1"/>
          <p:nvPr/>
        </p:nvSpPr>
        <p:spPr>
          <a:xfrm>
            <a:off x="9089136" y="1993392"/>
            <a:ext cx="2359152"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M4</a:t>
            </a:r>
            <a:endParaRPr lang="en-US" sz="2200" dirty="0"/>
          </a:p>
        </p:txBody>
      </p:sp>
      <p:sp>
        <p:nvSpPr>
          <p:cNvPr id="23" name="Text 21"/>
          <p:cNvSpPr txBox="1"/>
          <p:nvPr/>
        </p:nvSpPr>
        <p:spPr>
          <a:xfrm>
            <a:off x="9089136" y="2880360"/>
            <a:ext cx="2359152"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Expand Coverage</a:t>
            </a:r>
            <a:endParaRPr lang="en-US" sz="1300" dirty="0"/>
          </a:p>
        </p:txBody>
      </p:sp>
      <p:sp>
        <p:nvSpPr>
          <p:cNvPr id="24" name="Text 22"/>
          <p:cNvSpPr txBox="1"/>
          <p:nvPr/>
        </p:nvSpPr>
        <p:spPr>
          <a:xfrm>
            <a:off x="9089136" y="3474720"/>
            <a:ext cx="2359152" cy="2194560"/>
          </a:xfrm>
          <a:prstGeom prst="rect">
            <a:avLst/>
          </a:prstGeom>
          <a:noFill/>
          <a:ln/>
        </p:spPr>
        <p:txBody>
          <a:bodyPr wrap="square" lIns="0" tIns="0" rIns="0" bIns="0" rtlCol="0" anchor="ctr"/>
          <a:lstStyle/>
          <a:p>
            <a:pPr indent="0" marL="0">
              <a:lnSpc>
                <a:spcPct val="125000"/>
              </a:lnSpc>
              <a:buNone/>
            </a:pPr>
            <a:r>
              <a:rPr lang="en-US" sz="970" dirty="0">
                <a:solidFill>
                  <a:srgbClr val="2B2B2B"/>
                </a:solidFill>
                <a:latin typeface="Calibri" pitchFamily="34" charset="0"/>
                <a:ea typeface="Calibri" pitchFamily="34" charset="-122"/>
                <a:cs typeface="Calibri" pitchFamily="34" charset="-120"/>
              </a:rPr>
              <a:t>Sealed-bid &amp; Reverse auctions. Multi-Unit and Combinatorial deferred — they need a bigger winner-determination build.</a:t>
            </a:r>
            <a:endParaRPr lang="en-US" sz="970" dirty="0"/>
          </a:p>
        </p:txBody>
      </p:sp>
      <p:sp>
        <p:nvSpPr>
          <p:cNvPr id="25" name="Text 23"/>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26" name="Text 24"/>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METRICS</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How We'll Know It's Working</a:t>
            </a:r>
            <a:endParaRPr lang="en-US" sz="2800" dirty="0"/>
          </a:p>
        </p:txBody>
      </p:sp>
      <p:sp>
        <p:nvSpPr>
          <p:cNvPr id="5" name="Shape 3"/>
          <p:cNvSpPr/>
          <p:nvPr/>
        </p:nvSpPr>
        <p:spPr>
          <a:xfrm>
            <a:off x="457200" y="1874520"/>
            <a:ext cx="73152" cy="960120"/>
          </a:xfrm>
          <a:prstGeom prst="rect">
            <a:avLst/>
          </a:prstGeom>
          <a:solidFill>
            <a:srgbClr val="1E2761"/>
          </a:solidFill>
          <a:ln w="12700">
            <a:solidFill>
              <a:srgbClr val="1E2761"/>
            </a:solidFill>
            <a:prstDash val="solid"/>
          </a:ln>
        </p:spPr>
      </p:sp>
      <p:sp>
        <p:nvSpPr>
          <p:cNvPr id="6" name="Text 4"/>
          <p:cNvSpPr txBox="1"/>
          <p:nvPr/>
        </p:nvSpPr>
        <p:spPr>
          <a:xfrm>
            <a:off x="685800" y="1874520"/>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Win rate &amp; realized margin</a:t>
            </a:r>
            <a:endParaRPr lang="en-US" sz="1250" dirty="0"/>
          </a:p>
        </p:txBody>
      </p:sp>
      <p:sp>
        <p:nvSpPr>
          <p:cNvPr id="7" name="Text 5"/>
          <p:cNvSpPr txBox="1"/>
          <p:nvPr/>
        </p:nvSpPr>
        <p:spPr>
          <a:xfrm>
            <a:off x="685800" y="2258568"/>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Are agents actually getting good outcomes for their principals?</a:t>
            </a:r>
            <a:endParaRPr lang="en-US" sz="970" dirty="0"/>
          </a:p>
        </p:txBody>
      </p:sp>
      <p:sp>
        <p:nvSpPr>
          <p:cNvPr id="8" name="Shape 6"/>
          <p:cNvSpPr/>
          <p:nvPr/>
        </p:nvSpPr>
        <p:spPr>
          <a:xfrm>
            <a:off x="6217920" y="1874520"/>
            <a:ext cx="73152" cy="960120"/>
          </a:xfrm>
          <a:prstGeom prst="rect">
            <a:avLst/>
          </a:prstGeom>
          <a:solidFill>
            <a:srgbClr val="1E2761"/>
          </a:solidFill>
          <a:ln w="12700">
            <a:solidFill>
              <a:srgbClr val="1E2761"/>
            </a:solidFill>
            <a:prstDash val="solid"/>
          </a:ln>
        </p:spPr>
      </p:sp>
      <p:sp>
        <p:nvSpPr>
          <p:cNvPr id="9" name="Text 7"/>
          <p:cNvSpPr txBox="1"/>
          <p:nvPr/>
        </p:nvSpPr>
        <p:spPr>
          <a:xfrm>
            <a:off x="6446520" y="1874520"/>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Bid latency</a:t>
            </a:r>
            <a:endParaRPr lang="en-US" sz="1250" dirty="0"/>
          </a:p>
        </p:txBody>
      </p:sp>
      <p:sp>
        <p:nvSpPr>
          <p:cNvPr id="10" name="Text 8"/>
          <p:cNvSpPr txBox="1"/>
          <p:nvPr/>
        </p:nvSpPr>
        <p:spPr>
          <a:xfrm>
            <a:off x="6446520" y="2258568"/>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Sub-200ms decision-to-submission for English/Dutch</a:t>
            </a:r>
            <a:endParaRPr lang="en-US" sz="970" dirty="0"/>
          </a:p>
        </p:txBody>
      </p:sp>
      <p:sp>
        <p:nvSpPr>
          <p:cNvPr id="11" name="Shape 9"/>
          <p:cNvSpPr/>
          <p:nvPr/>
        </p:nvSpPr>
        <p:spPr>
          <a:xfrm>
            <a:off x="457200" y="3044952"/>
            <a:ext cx="73152" cy="960120"/>
          </a:xfrm>
          <a:prstGeom prst="rect">
            <a:avLst/>
          </a:prstGeom>
          <a:solidFill>
            <a:srgbClr val="B85042"/>
          </a:solidFill>
          <a:ln w="12700">
            <a:solidFill>
              <a:srgbClr val="B85042"/>
            </a:solidFill>
            <a:prstDash val="solid"/>
          </a:ln>
        </p:spPr>
      </p:sp>
      <p:sp>
        <p:nvSpPr>
          <p:cNvPr id="12" name="Text 10"/>
          <p:cNvSpPr txBox="1"/>
          <p:nvPr/>
        </p:nvSpPr>
        <p:spPr>
          <a:xfrm>
            <a:off x="685800" y="3044952"/>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Strategy accuracy (A/B)</a:t>
            </a:r>
            <a:endParaRPr lang="en-US" sz="1250" dirty="0"/>
          </a:p>
        </p:txBody>
      </p:sp>
      <p:sp>
        <p:nvSpPr>
          <p:cNvPr id="13" name="Text 11"/>
          <p:cNvSpPr txBox="1"/>
          <p:nvPr/>
        </p:nvSpPr>
        <p:spPr>
          <a:xfrm>
            <a:off x="685800" y="3429000"/>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Does LLM-driven strategy beat a naive baseline bidder?</a:t>
            </a:r>
            <a:endParaRPr lang="en-US" sz="970" dirty="0"/>
          </a:p>
        </p:txBody>
      </p:sp>
      <p:sp>
        <p:nvSpPr>
          <p:cNvPr id="14" name="Shape 12"/>
          <p:cNvSpPr/>
          <p:nvPr/>
        </p:nvSpPr>
        <p:spPr>
          <a:xfrm>
            <a:off x="6217920" y="3044952"/>
            <a:ext cx="73152" cy="960120"/>
          </a:xfrm>
          <a:prstGeom prst="rect">
            <a:avLst/>
          </a:prstGeom>
          <a:solidFill>
            <a:srgbClr val="B85042"/>
          </a:solidFill>
          <a:ln w="12700">
            <a:solidFill>
              <a:srgbClr val="B85042"/>
            </a:solidFill>
            <a:prstDash val="solid"/>
          </a:ln>
        </p:spPr>
      </p:sp>
      <p:sp>
        <p:nvSpPr>
          <p:cNvPr id="15" name="Text 13"/>
          <p:cNvSpPr txBox="1"/>
          <p:nvPr/>
        </p:nvSpPr>
        <p:spPr>
          <a:xfrm>
            <a:off x="6446520" y="3044952"/>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Guardrail intercept rate</a:t>
            </a:r>
            <a:endParaRPr lang="en-US" sz="1250" dirty="0"/>
          </a:p>
        </p:txBody>
      </p:sp>
      <p:sp>
        <p:nvSpPr>
          <p:cNvPr id="16" name="Text 14"/>
          <p:cNvSpPr txBox="1"/>
          <p:nvPr/>
        </p:nvSpPr>
        <p:spPr>
          <a:xfrm>
            <a:off x="6446520" y="3429000"/>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Proof the safety net is actually catching bad proposals</a:t>
            </a:r>
            <a:endParaRPr lang="en-US" sz="970" dirty="0"/>
          </a:p>
        </p:txBody>
      </p:sp>
      <p:sp>
        <p:nvSpPr>
          <p:cNvPr id="17" name="Shape 15"/>
          <p:cNvSpPr/>
          <p:nvPr/>
        </p:nvSpPr>
        <p:spPr>
          <a:xfrm>
            <a:off x="457200" y="4215384"/>
            <a:ext cx="73152" cy="960120"/>
          </a:xfrm>
          <a:prstGeom prst="rect">
            <a:avLst/>
          </a:prstGeom>
          <a:solidFill>
            <a:srgbClr val="028090"/>
          </a:solidFill>
          <a:ln w="12700">
            <a:solidFill>
              <a:srgbClr val="028090"/>
            </a:solidFill>
            <a:prstDash val="solid"/>
          </a:ln>
        </p:spPr>
      </p:sp>
      <p:sp>
        <p:nvSpPr>
          <p:cNvPr id="18" name="Text 16"/>
          <p:cNvSpPr txBox="1"/>
          <p:nvPr/>
        </p:nvSpPr>
        <p:spPr>
          <a:xfrm>
            <a:off x="685800" y="4215384"/>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Match confirmation rate</a:t>
            </a:r>
            <a:endParaRPr lang="en-US" sz="1250" dirty="0"/>
          </a:p>
        </p:txBody>
      </p:sp>
      <p:sp>
        <p:nvSpPr>
          <p:cNvPr id="19" name="Text 17"/>
          <p:cNvSpPr txBox="1"/>
          <p:nvPr/>
        </p:nvSpPr>
        <p:spPr>
          <a:xfrm>
            <a:off x="685800" y="4599432"/>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 of proposed matches both sides confirm</a:t>
            </a:r>
            <a:endParaRPr lang="en-US" sz="970" dirty="0"/>
          </a:p>
        </p:txBody>
      </p:sp>
      <p:sp>
        <p:nvSpPr>
          <p:cNvPr id="20" name="Shape 18"/>
          <p:cNvSpPr/>
          <p:nvPr/>
        </p:nvSpPr>
        <p:spPr>
          <a:xfrm>
            <a:off x="6217920" y="4215384"/>
            <a:ext cx="73152" cy="960120"/>
          </a:xfrm>
          <a:prstGeom prst="rect">
            <a:avLst/>
          </a:prstGeom>
          <a:solidFill>
            <a:srgbClr val="028090"/>
          </a:solidFill>
          <a:ln w="12700">
            <a:solidFill>
              <a:srgbClr val="028090"/>
            </a:solidFill>
            <a:prstDash val="solid"/>
          </a:ln>
        </p:spPr>
      </p:sp>
      <p:sp>
        <p:nvSpPr>
          <p:cNvPr id="21" name="Text 19"/>
          <p:cNvSpPr txBox="1"/>
          <p:nvPr/>
        </p:nvSpPr>
        <p:spPr>
          <a:xfrm>
            <a:off x="6446520" y="4215384"/>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Fall-through rate</a:t>
            </a:r>
            <a:endParaRPr lang="en-US" sz="1250" dirty="0"/>
          </a:p>
        </p:txBody>
      </p:sp>
      <p:sp>
        <p:nvSpPr>
          <p:cNvPr id="22" name="Text 20"/>
          <p:cNvSpPr txBox="1"/>
          <p:nvPr/>
        </p:nvSpPr>
        <p:spPr>
          <a:xfrm>
            <a:off x="6446520" y="4599432"/>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 of confirmed matches later reported as not completed</a:t>
            </a:r>
            <a:endParaRPr lang="en-US" sz="970" dirty="0"/>
          </a:p>
        </p:txBody>
      </p:sp>
      <p:sp>
        <p:nvSpPr>
          <p:cNvPr id="23" name="Shape 21"/>
          <p:cNvSpPr/>
          <p:nvPr/>
        </p:nvSpPr>
        <p:spPr>
          <a:xfrm>
            <a:off x="457200" y="5385816"/>
            <a:ext cx="73152" cy="960120"/>
          </a:xfrm>
          <a:prstGeom prst="rect">
            <a:avLst/>
          </a:prstGeom>
          <a:solidFill>
            <a:srgbClr val="6D2E46"/>
          </a:solidFill>
          <a:ln w="12700">
            <a:solidFill>
              <a:srgbClr val="6D2E46"/>
            </a:solidFill>
            <a:prstDash val="solid"/>
          </a:ln>
        </p:spPr>
      </p:sp>
      <p:sp>
        <p:nvSpPr>
          <p:cNvPr id="24" name="Text 22"/>
          <p:cNvSpPr txBox="1"/>
          <p:nvPr/>
        </p:nvSpPr>
        <p:spPr>
          <a:xfrm>
            <a:off x="685800" y="5385816"/>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Session continuity</a:t>
            </a:r>
            <a:endParaRPr lang="en-US" sz="1250" dirty="0"/>
          </a:p>
        </p:txBody>
      </p:sp>
      <p:sp>
        <p:nvSpPr>
          <p:cNvPr id="25" name="Text 23"/>
          <p:cNvSpPr txBox="1"/>
          <p:nvPr/>
        </p:nvSpPr>
        <p:spPr>
          <a:xfrm>
            <a:off x="685800" y="5769864"/>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 of cross-channel handoffs with zero state loss</a:t>
            </a:r>
            <a:endParaRPr lang="en-US" sz="970" dirty="0"/>
          </a:p>
        </p:txBody>
      </p:sp>
      <p:sp>
        <p:nvSpPr>
          <p:cNvPr id="26" name="Shape 24"/>
          <p:cNvSpPr/>
          <p:nvPr/>
        </p:nvSpPr>
        <p:spPr>
          <a:xfrm>
            <a:off x="6217920" y="5385816"/>
            <a:ext cx="73152" cy="960120"/>
          </a:xfrm>
          <a:prstGeom prst="rect">
            <a:avLst/>
          </a:prstGeom>
          <a:solidFill>
            <a:srgbClr val="6D2E46"/>
          </a:solidFill>
          <a:ln w="12700">
            <a:solidFill>
              <a:srgbClr val="6D2E46"/>
            </a:solidFill>
            <a:prstDash val="solid"/>
          </a:ln>
        </p:spPr>
      </p:sp>
      <p:sp>
        <p:nvSpPr>
          <p:cNvPr id="27" name="Text 25"/>
          <p:cNvSpPr txBox="1"/>
          <p:nvPr/>
        </p:nvSpPr>
        <p:spPr>
          <a:xfrm>
            <a:off x="6446520" y="5385816"/>
            <a:ext cx="5212080" cy="3657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Override rate</a:t>
            </a:r>
            <a:endParaRPr lang="en-US" sz="1250" dirty="0"/>
          </a:p>
        </p:txBody>
      </p:sp>
      <p:sp>
        <p:nvSpPr>
          <p:cNvPr id="28" name="Text 26"/>
          <p:cNvSpPr txBox="1"/>
          <p:nvPr/>
        </p:nvSpPr>
        <p:spPr>
          <a:xfrm>
            <a:off x="6446520" y="5769864"/>
            <a:ext cx="5212080" cy="548640"/>
          </a:xfrm>
          <a:prstGeom prst="rect">
            <a:avLst/>
          </a:prstGeom>
          <a:noFill/>
          <a:ln/>
        </p:spPr>
        <p:txBody>
          <a:bodyPr wrap="square" lIns="0" tIns="0" rIns="0" bIns="0" rtlCol="0" anchor="ctr"/>
          <a:lstStyle/>
          <a:p>
            <a:pPr indent="0" marL="0">
              <a:buNone/>
            </a:pPr>
            <a:r>
              <a:rPr lang="en-US" sz="970" dirty="0">
                <a:solidFill>
                  <a:srgbClr val="6B7280"/>
                </a:solidFill>
                <a:latin typeface="Calibri" pitchFamily="34" charset="0"/>
                <a:ea typeface="Calibri" pitchFamily="34" charset="-122"/>
                <a:cs typeface="Calibri" pitchFamily="34" charset="-120"/>
              </a:rPr>
              <a:t>How often users manually override their agent — a trust signal</a:t>
            </a:r>
            <a:endParaRPr lang="en-US" sz="970" dirty="0"/>
          </a:p>
        </p:txBody>
      </p:sp>
      <p:sp>
        <p:nvSpPr>
          <p:cNvPr id="29" name="Text 27"/>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30" name="Text 28"/>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SCALING</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Sizing for 200K Sellers, 1M Buyers</a:t>
            </a:r>
            <a:endParaRPr lang="en-US" sz="28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Provision against concurrent activity, not registered population</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47120" cy="2834640"/>
        </p:xfrm>
        <a:graphic>
          <a:graphicData uri="http://schemas.openxmlformats.org/drawingml/2006/table">
            <a:tbl>
              <a:tblPr/>
              <a:tblGrid>
                <a:gridCol w="2377440"/>
                <a:gridCol w="3931920"/>
                <a:gridCol w="493776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Drives Its Size</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r>
              <a:tr h="566928">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Execution Engine</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Concurrent active auctions</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Only component with a real-time (sub-200ms) SLA — sized via pub/sub fan-out to an autoscaled worker pool</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66928">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State Manager &amp; Store</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1.2M rows for storage; active sessions for load</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1.2M agent records is trivial for Postgres; Redis handles the much smaller active-session working set</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566928">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LLM Orchestrator</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"Decision moments," not agent count</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Event-triggered — scales with auction/listing activity, not population</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566928">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MCP Servers &amp; Gateways</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Standard API request volume</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1030" dirty="0">
                          <a:solidFill>
                            <a:srgbClr val="2B2B2B"/>
                          </a:solidFill>
                          <a:latin typeface="Calibri" pitchFamily="34" charset="0"/>
                          <a:ea typeface="Calibri" pitchFamily="34" charset="-122"/>
                          <a:cs typeface="Calibri" pitchFamily="34" charset="-120"/>
                        </a:rPr>
                        <a:t>Ordinary horizontally-scaled stateless services</a:t>
                      </a:r>
                      <a:endParaRPr lang="en-US" sz="103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bl>
          </a:graphicData>
        </a:graphic>
      </p:graphicFrame>
      <p:sp>
        <p:nvSpPr>
          <p:cNvPr id="7" name="Shape 4"/>
          <p:cNvSpPr/>
          <p:nvPr/>
        </p:nvSpPr>
        <p:spPr>
          <a:xfrm>
            <a:off x="457200" y="5212080"/>
            <a:ext cx="11247120" cy="1005840"/>
          </a:xfrm>
          <a:prstGeom prst="rect">
            <a:avLst/>
          </a:prstGeom>
          <a:solidFill>
            <a:srgbClr val="FDF0E6"/>
          </a:solidFill>
          <a:ln w="12700">
            <a:solidFill>
              <a:srgbClr val="B85042"/>
            </a:solidFill>
            <a:prstDash val="solid"/>
          </a:ln>
        </p:spPr>
      </p:sp>
      <p:sp>
        <p:nvSpPr>
          <p:cNvPr id="8" name="Text 5"/>
          <p:cNvSpPr txBox="1"/>
          <p:nvPr/>
        </p:nvSpPr>
        <p:spPr>
          <a:xfrm>
            <a:off x="640080" y="5321808"/>
            <a:ext cx="10881360" cy="822960"/>
          </a:xfrm>
          <a:prstGeom prst="rect">
            <a:avLst/>
          </a:prstGeom>
          <a:noFill/>
          <a:ln/>
        </p:spPr>
        <p:txBody>
          <a:bodyPr wrap="square" lIns="0" tIns="0" rIns="0" bIns="0" rtlCol="0" anchor="ctr"/>
          <a:lstStyle/>
          <a:p>
            <a:pPr indent="0" marL="0">
              <a:lnSpc>
                <a:spcPct val="130000"/>
              </a:lnSpc>
              <a:buNone/>
            </a:pPr>
            <a:r>
              <a:rPr lang="en-US" sz="1100" i="1" dirty="0">
                <a:solidFill>
                  <a:srgbClr val="B85042"/>
                </a:solidFill>
                <a:latin typeface="Calibri" pitchFamily="34" charset="0"/>
                <a:ea typeface="Calibri" pitchFamily="34" charset="-122"/>
                <a:cs typeface="Calibri" pitchFamily="34" charset="-120"/>
              </a:rPr>
              <a:t>Honest caveat: concurrency figures here are planning assumptions, not measured facts. Milestone 1 is the first real opportunity to measure concurrency-to-registered-user ratios before committing to a production capacity plan.</a:t>
            </a:r>
            <a:endParaRPr lang="en-US" sz="1100" dirty="0"/>
          </a:p>
        </p:txBody>
      </p:sp>
      <p:sp>
        <p:nvSpPr>
          <p:cNvPr id="9" name="Text 6"/>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0" name="Text 7"/>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SCALING</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LLM Cost Economics &amp; Charging Model</a:t>
            </a:r>
            <a:endParaRPr lang="en-US" sz="2800" dirty="0"/>
          </a:p>
        </p:txBody>
      </p:sp>
      <p:sp>
        <p:nvSpPr>
          <p:cNvPr id="5" name="Text 3"/>
          <p:cNvSpPr txBox="1"/>
          <p:nvPr/>
        </p:nvSpPr>
        <p:spPr>
          <a:xfrm>
            <a:off x="457200" y="1828800"/>
            <a:ext cx="548640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Cost Levers (in order of impact)</a:t>
            </a:r>
            <a:endParaRPr lang="en-US" sz="1300" dirty="0"/>
          </a:p>
        </p:txBody>
      </p:sp>
      <p:sp>
        <p:nvSpPr>
          <p:cNvPr id="6" name="Text 4"/>
          <p:cNvSpPr txBox="1"/>
          <p:nvPr/>
        </p:nvSpPr>
        <p:spPr>
          <a:xfrm>
            <a:off x="457200" y="2240280"/>
            <a:ext cx="5486400" cy="2103120"/>
          </a:xfrm>
          <a:prstGeom prst="rect">
            <a:avLst/>
          </a:prstGeom>
          <a:noFill/>
          <a:ln/>
        </p:spPr>
        <p:txBody>
          <a:bodyPr wrap="square" lIns="0" tIns="0" rIns="0" bIns="0" rtlCol="0" anchor="ctr"/>
          <a:lstStyle/>
          <a:p>
            <a:pPr marL="342900" indent="-342900">
              <a:spcAft>
                <a:spcPts val="800"/>
              </a:spcAft>
              <a:buSzPct val="100000"/>
              <a:buChar char="•"/>
            </a:pPr>
            <a:r>
              <a:rPr lang="en-US" sz="1030" dirty="0">
                <a:solidFill>
                  <a:srgbClr val="2B2B2B"/>
                </a:solidFill>
                <a:latin typeface="Calibri" pitchFamily="34" charset="0"/>
                <a:ea typeface="Calibri" pitchFamily="34" charset="-122"/>
                <a:cs typeface="Calibri" pitchFamily="34" charset="-120"/>
              </a:rPr>
              <a:t>Event-driven triggering, not polling — the single biggest lever</a:t>
            </a:r>
            <a:endParaRPr lang="en-US" sz="1030" dirty="0"/>
          </a:p>
          <a:p>
            <a:pPr marL="342900" indent="-342900">
              <a:spcAft>
                <a:spcPts val="800"/>
              </a:spcAft>
              <a:buSzPct val="100000"/>
              <a:buChar char="•"/>
            </a:pPr>
            <a:r>
              <a:rPr lang="en-US" sz="1030" dirty="0">
                <a:solidFill>
                  <a:srgbClr val="2B2B2B"/>
                </a:solidFill>
                <a:latin typeface="Calibri" pitchFamily="34" charset="0"/>
                <a:ea typeface="Calibri" pitchFamily="34" charset="-122"/>
                <a:cs typeface="Calibri" pitchFamily="34" charset="-120"/>
              </a:rPr>
              <a:t>Prompt caching on system prompt &amp; constraints (~90% cheaper)</a:t>
            </a:r>
            <a:endParaRPr lang="en-US" sz="1030" dirty="0"/>
          </a:p>
          <a:p>
            <a:pPr marL="342900" indent="-342900">
              <a:spcAft>
                <a:spcPts val="800"/>
              </a:spcAft>
              <a:buSzPct val="100000"/>
              <a:buChar char="•"/>
            </a:pPr>
            <a:r>
              <a:rPr lang="en-US" sz="1030" dirty="0">
                <a:solidFill>
                  <a:srgbClr val="2B2B2B"/>
                </a:solidFill>
                <a:latin typeface="Calibri" pitchFamily="34" charset="0"/>
                <a:ea typeface="Calibri" pitchFamily="34" charset="-122"/>
                <a:cs typeface="Calibri" pitchFamily="34" charset="-120"/>
              </a:rPr>
              <a:t>Model routing: Haiku for routine, Sonnet default, Opus rare</a:t>
            </a:r>
            <a:endParaRPr lang="en-US" sz="1030" dirty="0"/>
          </a:p>
          <a:p>
            <a:pPr marL="342900" indent="-342900">
              <a:spcAft>
                <a:spcPts val="800"/>
              </a:spcAft>
              <a:buSzPct val="100000"/>
              <a:buChar char="•"/>
            </a:pPr>
            <a:r>
              <a:rPr lang="en-US" sz="1030" dirty="0">
                <a:solidFill>
                  <a:srgbClr val="2B2B2B"/>
                </a:solidFill>
                <a:latin typeface="Calibri" pitchFamily="34" charset="0"/>
                <a:ea typeface="Calibri" pitchFamily="34" charset="-122"/>
                <a:cs typeface="Calibri" pitchFamily="34" charset="-120"/>
              </a:rPr>
              <a:t>Batch API (50% off) for non-urgent reasoning</a:t>
            </a:r>
            <a:endParaRPr lang="en-US" sz="1030" dirty="0"/>
          </a:p>
          <a:p>
            <a:pPr marL="342900" indent="-342900">
              <a:spcAft>
                <a:spcPts val="800"/>
              </a:spcAft>
              <a:buSzPct val="100000"/>
              <a:buChar char="•"/>
            </a:pPr>
            <a:r>
              <a:rPr lang="en-US" sz="1030" dirty="0">
                <a:solidFill>
                  <a:srgbClr val="2B2B2B"/>
                </a:solidFill>
                <a:latin typeface="Calibri" pitchFamily="34" charset="0"/>
                <a:ea typeface="Calibri" pitchFamily="34" charset="-122"/>
                <a:cs typeface="Calibri" pitchFamily="34" charset="-120"/>
              </a:rPr>
              <a:t>Rate-limit LLM calls per agent as a guardrail, not just cost control</a:t>
            </a:r>
            <a:endParaRPr lang="en-US" sz="1030" dirty="0"/>
          </a:p>
        </p:txBody>
      </p:sp>
      <p:sp>
        <p:nvSpPr>
          <p:cNvPr id="7" name="Shape 5"/>
          <p:cNvSpPr/>
          <p:nvPr/>
        </p:nvSpPr>
        <p:spPr>
          <a:xfrm>
            <a:off x="457200" y="4434840"/>
            <a:ext cx="5486400" cy="1371600"/>
          </a:xfrm>
          <a:prstGeom prst="rect">
            <a:avLst/>
          </a:prstGeom>
          <a:solidFill>
            <a:srgbClr val="EAF4F0"/>
          </a:solidFill>
          <a:ln w="12700">
            <a:solidFill>
              <a:srgbClr val="028090"/>
            </a:solidFill>
            <a:prstDash val="solid"/>
          </a:ln>
        </p:spPr>
      </p:sp>
      <p:sp>
        <p:nvSpPr>
          <p:cNvPr id="8" name="Text 6"/>
          <p:cNvSpPr txBox="1"/>
          <p:nvPr/>
        </p:nvSpPr>
        <p:spPr>
          <a:xfrm>
            <a:off x="640080" y="4553712"/>
            <a:ext cx="512064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~$0.002–$0.005 per LLM decision</a:t>
            </a:r>
            <a:endParaRPr lang="en-US" sz="1400" dirty="0"/>
          </a:p>
        </p:txBody>
      </p:sp>
      <p:sp>
        <p:nvSpPr>
          <p:cNvPr id="9" name="Text 7"/>
          <p:cNvSpPr txBox="1"/>
          <p:nvPr/>
        </p:nvSpPr>
        <p:spPr>
          <a:xfrm>
            <a:off x="640080" y="4919472"/>
            <a:ext cx="5120640" cy="822960"/>
          </a:xfrm>
          <a:prstGeom prst="rect">
            <a:avLst/>
          </a:prstGeom>
          <a:noFill/>
          <a:ln/>
        </p:spPr>
        <p:txBody>
          <a:bodyPr wrap="square" lIns="0" tIns="0" rIns="0" bIns="0" rtlCol="0" anchor="ctr"/>
          <a:lstStyle/>
          <a:p>
            <a:pPr indent="0" marL="0">
              <a:lnSpc>
                <a:spcPct val="125000"/>
              </a:lnSpc>
              <a:buNone/>
            </a:pPr>
            <a:r>
              <a:rPr lang="en-US" sz="930" dirty="0">
                <a:solidFill>
                  <a:srgbClr val="2B2B2B"/>
                </a:solidFill>
                <a:latin typeface="Calibri" pitchFamily="34" charset="0"/>
                <a:ea typeface="Calibri" pitchFamily="34" charset="-122"/>
                <a:cs typeface="Calibri" pitchFamily="34" charset="-120"/>
              </a:rPr>
              <a:t>Blended Haiku/Sonnet/Opus estimate. At full scale: a wide low-to-mid-six-figure monthly range — refine with real decisions/agent/day data from Milestone 2.</a:t>
            </a:r>
            <a:endParaRPr lang="en-US" sz="930" dirty="0"/>
          </a:p>
        </p:txBody>
      </p:sp>
      <p:sp>
        <p:nvSpPr>
          <p:cNvPr id="10" name="Text 8"/>
          <p:cNvSpPr txBox="1"/>
          <p:nvPr/>
        </p:nvSpPr>
        <p:spPr>
          <a:xfrm>
            <a:off x="6263640" y="1828800"/>
            <a:ext cx="54406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Charging Model — "Agent Actions," Not Tokens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263640" y="2240280"/>
          <a:ext cx="5440680" cy="2194560"/>
        </p:xfrm>
        <a:graphic>
          <a:graphicData uri="http://schemas.openxmlformats.org/drawingml/2006/table">
            <a:tbl>
              <a:tblPr/>
              <a:tblGrid>
                <a:gridCol w="1783080"/>
                <a:gridCol w="1737360"/>
                <a:gridCol w="1920240"/>
              </a:tblGrid>
              <a:tr h="4389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Allowance</a:t>
                      </a:r>
                      <a:endParaRPr lang="en-US" sz="10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Overage</a:t>
                      </a:r>
                      <a:endParaRPr lang="en-US" sz="100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E2761"/>
                    </a:solidFill>
                  </a:tcPr>
                </a:tc>
              </a:tr>
              <a:tr h="438912">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Seller — Starter</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~500/mo</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Fallback to deterministic-only</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Seller — Growth</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~3,000/mo</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Same, higher threshold</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r h="438912">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Seller — Trusted</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Soft-capped</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Priority routing</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Buyer (free)</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Rate-limited</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Guardrail ceiling, not billed</a:t>
                      </a:r>
                      <a:endParaRPr lang="en-US" sz="950" dirty="0">
                        <a:latin typeface="Calibri" charset="0"/>
                        <a:ea typeface="Calibri" charset="0"/>
                        <a:cs typeface="Calibri" charset="0"/>
                      </a:endParaRPr>
                    </a:p>
                  </a:txBody>
                  <a:tcPr marL="91440" marR="91440" marT="45720" marB="4572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4F6FB"/>
                    </a:solidFill>
                  </a:tcPr>
                </a:tc>
              </a:tr>
            </a:tbl>
          </a:graphicData>
        </a:graphic>
      </p:graphicFrame>
      <p:sp>
        <p:nvSpPr>
          <p:cNvPr id="12" name="Text 9"/>
          <p:cNvSpPr txBox="1"/>
          <p:nvPr/>
        </p:nvSpPr>
        <p:spPr>
          <a:xfrm>
            <a:off x="6263640" y="4663440"/>
            <a:ext cx="5440680" cy="1188720"/>
          </a:xfrm>
          <a:prstGeom prst="rect">
            <a:avLst/>
          </a:prstGeom>
          <a:noFill/>
          <a:ln/>
        </p:spPr>
        <p:txBody>
          <a:bodyPr wrap="square" lIns="0" tIns="0" rIns="0" bIns="0" rtlCol="0" anchor="ctr"/>
          <a:lstStyle/>
          <a:p>
            <a:pPr indent="0" marL="0">
              <a:lnSpc>
                <a:spcPct val="130000"/>
              </a:lnSpc>
              <a:buNone/>
            </a:pPr>
            <a:r>
              <a:rPr lang="en-US" sz="1000" i="1" dirty="0">
                <a:solidFill>
                  <a:srgbClr val="6B7280"/>
                </a:solidFill>
                <a:latin typeface="Calibri" pitchFamily="34" charset="0"/>
                <a:ea typeface="Calibri" pitchFamily="34" charset="-122"/>
                <a:cs typeface="Calibri" pitchFamily="34" charset="-120"/>
              </a:rPr>
              <a:t>Internal metering (FinOps) tracks real spend per agent — invisible to the customer. User-facing pricing wraps reasoning into an abstracted unit bundled into subscription tiers, never raw $/token billing.</a:t>
            </a:r>
            <a:endParaRPr lang="en-US" sz="1000" dirty="0"/>
          </a:p>
        </p:txBody>
      </p:sp>
      <p:sp>
        <p:nvSpPr>
          <p:cNvPr id="13" name="Text 10"/>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4" name="Text 11"/>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ROADMAP</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Implementation Plan</a:t>
            </a:r>
            <a:endParaRPr lang="en-US" sz="28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Validate the riskiest, hardest-to-reverse assumptions first</a:t>
            </a:r>
            <a:endParaRPr lang="en-US" sz="1300" dirty="0"/>
          </a:p>
        </p:txBody>
      </p:sp>
      <p:sp>
        <p:nvSpPr>
          <p:cNvPr id="6" name="Shape 4"/>
          <p:cNvSpPr/>
          <p:nvPr/>
        </p:nvSpPr>
        <p:spPr>
          <a:xfrm>
            <a:off x="457200" y="1965960"/>
            <a:ext cx="502920" cy="566928"/>
          </a:xfrm>
          <a:prstGeom prst="rect">
            <a:avLst/>
          </a:prstGeom>
          <a:solidFill>
            <a:srgbClr val="1E2761"/>
          </a:solidFill>
          <a:ln w="12700">
            <a:solidFill>
              <a:srgbClr val="1E2761"/>
            </a:solidFill>
            <a:prstDash val="solid"/>
          </a:ln>
        </p:spPr>
      </p:sp>
      <p:sp>
        <p:nvSpPr>
          <p:cNvPr id="7" name="Text 5"/>
          <p:cNvSpPr txBox="1"/>
          <p:nvPr/>
        </p:nvSpPr>
        <p:spPr>
          <a:xfrm>
            <a:off x="457200" y="19659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8" name="Text 6"/>
          <p:cNvSpPr txBox="1"/>
          <p:nvPr/>
        </p:nvSpPr>
        <p:spPr>
          <a:xfrm>
            <a:off x="1097280" y="1984248"/>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Foundations</a:t>
            </a:r>
            <a:endParaRPr lang="en-US" sz="1150" dirty="0"/>
          </a:p>
        </p:txBody>
      </p:sp>
      <p:sp>
        <p:nvSpPr>
          <p:cNvPr id="9" name="Text 7"/>
          <p:cNvSpPr txBox="1"/>
          <p:nvPr/>
        </p:nvSpPr>
        <p:spPr>
          <a:xfrm>
            <a:off x="1097280" y="2258568"/>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1–2 wks</a:t>
            </a:r>
            <a:endParaRPr lang="en-US" sz="900" dirty="0"/>
          </a:p>
        </p:txBody>
      </p:sp>
      <p:sp>
        <p:nvSpPr>
          <p:cNvPr id="10" name="Text 8"/>
          <p:cNvSpPr txBox="1"/>
          <p:nvPr/>
        </p:nvSpPr>
        <p:spPr>
          <a:xfrm>
            <a:off x="3520440" y="1984248"/>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Schemas, Canonical Agent ID, core infra — nothing auction-specific yet</a:t>
            </a:r>
            <a:endParaRPr lang="en-US" sz="970" dirty="0"/>
          </a:p>
        </p:txBody>
      </p:sp>
      <p:sp>
        <p:nvSpPr>
          <p:cNvPr id="11" name="Shape 9"/>
          <p:cNvSpPr/>
          <p:nvPr/>
        </p:nvSpPr>
        <p:spPr>
          <a:xfrm>
            <a:off x="457200" y="2624328"/>
            <a:ext cx="502920" cy="566928"/>
          </a:xfrm>
          <a:prstGeom prst="rect">
            <a:avLst/>
          </a:prstGeom>
          <a:solidFill>
            <a:srgbClr val="B85042"/>
          </a:solidFill>
          <a:ln w="12700">
            <a:solidFill>
              <a:srgbClr val="B85042"/>
            </a:solidFill>
            <a:prstDash val="solid"/>
          </a:ln>
        </p:spPr>
      </p:sp>
      <p:sp>
        <p:nvSpPr>
          <p:cNvPr id="12" name="Text 10"/>
          <p:cNvSpPr txBox="1"/>
          <p:nvPr/>
        </p:nvSpPr>
        <p:spPr>
          <a:xfrm>
            <a:off x="457200" y="2624328"/>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1"/>
          <p:cNvSpPr txBox="1"/>
          <p:nvPr/>
        </p:nvSpPr>
        <p:spPr>
          <a:xfrm>
            <a:off x="1097280" y="2642616"/>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Prove Execution</a:t>
            </a:r>
            <a:endParaRPr lang="en-US" sz="1150" dirty="0"/>
          </a:p>
        </p:txBody>
      </p:sp>
      <p:sp>
        <p:nvSpPr>
          <p:cNvPr id="14" name="Text 12"/>
          <p:cNvSpPr txBox="1"/>
          <p:nvPr/>
        </p:nvSpPr>
        <p:spPr>
          <a:xfrm>
            <a:off x="1097280" y="2916936"/>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wks</a:t>
            </a:r>
            <a:endParaRPr lang="en-US" sz="900" dirty="0"/>
          </a:p>
        </p:txBody>
      </p:sp>
      <p:sp>
        <p:nvSpPr>
          <p:cNvPr id="15" name="Text 13"/>
          <p:cNvSpPr txBox="1"/>
          <p:nvPr/>
        </p:nvSpPr>
        <p:spPr>
          <a:xfrm>
            <a:off x="3520440" y="2642616"/>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English only, no LLM. Hard gate: sub-200ms bid latency, measured</a:t>
            </a:r>
            <a:endParaRPr lang="en-US" sz="970" dirty="0"/>
          </a:p>
        </p:txBody>
      </p:sp>
      <p:sp>
        <p:nvSpPr>
          <p:cNvPr id="16" name="Shape 14"/>
          <p:cNvSpPr/>
          <p:nvPr/>
        </p:nvSpPr>
        <p:spPr>
          <a:xfrm>
            <a:off x="457200" y="3282696"/>
            <a:ext cx="502920" cy="566928"/>
          </a:xfrm>
          <a:prstGeom prst="rect">
            <a:avLst/>
          </a:prstGeom>
          <a:solidFill>
            <a:srgbClr val="028090"/>
          </a:solidFill>
          <a:ln w="12700">
            <a:solidFill>
              <a:srgbClr val="028090"/>
            </a:solidFill>
            <a:prstDash val="solid"/>
          </a:ln>
        </p:spPr>
      </p:sp>
      <p:sp>
        <p:nvSpPr>
          <p:cNvPr id="17" name="Text 15"/>
          <p:cNvSpPr txBox="1"/>
          <p:nvPr/>
        </p:nvSpPr>
        <p:spPr>
          <a:xfrm>
            <a:off x="457200" y="3282696"/>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txBox="1"/>
          <p:nvPr/>
        </p:nvSpPr>
        <p:spPr>
          <a:xfrm>
            <a:off x="1097280" y="3300984"/>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Add the Brain</a:t>
            </a:r>
            <a:endParaRPr lang="en-US" sz="1150" dirty="0"/>
          </a:p>
        </p:txBody>
      </p:sp>
      <p:sp>
        <p:nvSpPr>
          <p:cNvPr id="19" name="Text 17"/>
          <p:cNvSpPr txBox="1"/>
          <p:nvPr/>
        </p:nvSpPr>
        <p:spPr>
          <a:xfrm>
            <a:off x="1097280" y="3575304"/>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wks</a:t>
            </a:r>
            <a:endParaRPr lang="en-US" sz="900" dirty="0"/>
          </a:p>
        </p:txBody>
      </p:sp>
      <p:sp>
        <p:nvSpPr>
          <p:cNvPr id="20" name="Text 18"/>
          <p:cNvSpPr txBox="1"/>
          <p:nvPr/>
        </p:nvSpPr>
        <p:spPr>
          <a:xfrm>
            <a:off x="3520440" y="3300984"/>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LLM strategy + Dutch auction. A/B vs. naive bidder — the value-prop test</a:t>
            </a:r>
            <a:endParaRPr lang="en-US" sz="970" dirty="0"/>
          </a:p>
        </p:txBody>
      </p:sp>
      <p:sp>
        <p:nvSpPr>
          <p:cNvPr id="21" name="Shape 19"/>
          <p:cNvSpPr/>
          <p:nvPr/>
        </p:nvSpPr>
        <p:spPr>
          <a:xfrm>
            <a:off x="457200" y="3941064"/>
            <a:ext cx="502920" cy="566928"/>
          </a:xfrm>
          <a:prstGeom prst="rect">
            <a:avLst/>
          </a:prstGeom>
          <a:solidFill>
            <a:srgbClr val="6D2E46"/>
          </a:solidFill>
          <a:ln w="12700">
            <a:solidFill>
              <a:srgbClr val="6D2E46"/>
            </a:solidFill>
            <a:prstDash val="solid"/>
          </a:ln>
        </p:spPr>
      </p:sp>
      <p:sp>
        <p:nvSpPr>
          <p:cNvPr id="22" name="Text 20"/>
          <p:cNvSpPr txBox="1"/>
          <p:nvPr/>
        </p:nvSpPr>
        <p:spPr>
          <a:xfrm>
            <a:off x="457200" y="3941064"/>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Text 21"/>
          <p:cNvSpPr txBox="1"/>
          <p:nvPr/>
        </p:nvSpPr>
        <p:spPr>
          <a:xfrm>
            <a:off x="1097280" y="3959352"/>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Expand Reach</a:t>
            </a:r>
            <a:endParaRPr lang="en-US" sz="1150" dirty="0"/>
          </a:p>
        </p:txBody>
      </p:sp>
      <p:sp>
        <p:nvSpPr>
          <p:cNvPr id="24" name="Text 22"/>
          <p:cNvSpPr txBox="1"/>
          <p:nvPr/>
        </p:nvSpPr>
        <p:spPr>
          <a:xfrm>
            <a:off x="1097280" y="4233672"/>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wks</a:t>
            </a:r>
            <a:endParaRPr lang="en-US" sz="900" dirty="0"/>
          </a:p>
        </p:txBody>
      </p:sp>
      <p:sp>
        <p:nvSpPr>
          <p:cNvPr id="25" name="Text 23"/>
          <p:cNvSpPr txBox="1"/>
          <p:nvPr/>
        </p:nvSpPr>
        <p:spPr>
          <a:xfrm>
            <a:off x="3520440" y="3959352"/>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WhatsApp + reputation scoring. Verify zero state loss cross-channel</a:t>
            </a:r>
            <a:endParaRPr lang="en-US" sz="970" dirty="0"/>
          </a:p>
        </p:txBody>
      </p:sp>
      <p:sp>
        <p:nvSpPr>
          <p:cNvPr id="26" name="Shape 24"/>
          <p:cNvSpPr/>
          <p:nvPr/>
        </p:nvSpPr>
        <p:spPr>
          <a:xfrm>
            <a:off x="457200" y="4599432"/>
            <a:ext cx="502920" cy="566928"/>
          </a:xfrm>
          <a:prstGeom prst="rect">
            <a:avLst/>
          </a:prstGeom>
          <a:solidFill>
            <a:srgbClr val="1E2761"/>
          </a:solidFill>
          <a:ln w="12700">
            <a:solidFill>
              <a:srgbClr val="1E2761"/>
            </a:solidFill>
            <a:prstDash val="solid"/>
          </a:ln>
        </p:spPr>
      </p:sp>
      <p:sp>
        <p:nvSpPr>
          <p:cNvPr id="27" name="Text 25"/>
          <p:cNvSpPr txBox="1"/>
          <p:nvPr/>
        </p:nvSpPr>
        <p:spPr>
          <a:xfrm>
            <a:off x="457200" y="459943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6"/>
          <p:cNvSpPr txBox="1"/>
          <p:nvPr/>
        </p:nvSpPr>
        <p:spPr>
          <a:xfrm>
            <a:off x="1097280" y="4617720"/>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Fill Coverage</a:t>
            </a:r>
            <a:endParaRPr lang="en-US" sz="1150" dirty="0"/>
          </a:p>
        </p:txBody>
      </p:sp>
      <p:sp>
        <p:nvSpPr>
          <p:cNvPr id="29" name="Text 27"/>
          <p:cNvSpPr txBox="1"/>
          <p:nvPr/>
        </p:nvSpPr>
        <p:spPr>
          <a:xfrm>
            <a:off x="1097280" y="4892040"/>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wks</a:t>
            </a:r>
            <a:endParaRPr lang="en-US" sz="900" dirty="0"/>
          </a:p>
        </p:txBody>
      </p:sp>
      <p:sp>
        <p:nvSpPr>
          <p:cNvPr id="30" name="Text 28"/>
          <p:cNvSpPr txBox="1"/>
          <p:nvPr/>
        </p:nvSpPr>
        <p:spPr>
          <a:xfrm>
            <a:off x="3520440" y="4617720"/>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Sealed-Bid, Reverse. Multi-Unit/Combinatorial deferred to their own track</a:t>
            </a:r>
            <a:endParaRPr lang="en-US" sz="970" dirty="0"/>
          </a:p>
        </p:txBody>
      </p:sp>
      <p:sp>
        <p:nvSpPr>
          <p:cNvPr id="31" name="Shape 29"/>
          <p:cNvSpPr/>
          <p:nvPr/>
        </p:nvSpPr>
        <p:spPr>
          <a:xfrm>
            <a:off x="457200" y="5257800"/>
            <a:ext cx="502920" cy="566928"/>
          </a:xfrm>
          <a:prstGeom prst="rect">
            <a:avLst/>
          </a:prstGeom>
          <a:solidFill>
            <a:srgbClr val="B85042"/>
          </a:solidFill>
          <a:ln w="12700">
            <a:solidFill>
              <a:srgbClr val="B85042"/>
            </a:solidFill>
            <a:prstDash val="solid"/>
          </a:ln>
        </p:spPr>
      </p:sp>
      <p:sp>
        <p:nvSpPr>
          <p:cNvPr id="32" name="Text 30"/>
          <p:cNvSpPr txBox="1"/>
          <p:nvPr/>
        </p:nvSpPr>
        <p:spPr>
          <a:xfrm>
            <a:off x="457200" y="52578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3" name="Text 31"/>
          <p:cNvSpPr txBox="1"/>
          <p:nvPr/>
        </p:nvSpPr>
        <p:spPr>
          <a:xfrm>
            <a:off x="1097280" y="5276088"/>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Business Layer</a:t>
            </a:r>
            <a:endParaRPr lang="en-US" sz="1150" dirty="0"/>
          </a:p>
        </p:txBody>
      </p:sp>
      <p:sp>
        <p:nvSpPr>
          <p:cNvPr id="34" name="Text 32"/>
          <p:cNvSpPr txBox="1"/>
          <p:nvPr/>
        </p:nvSpPr>
        <p:spPr>
          <a:xfrm>
            <a:off x="1097280" y="5550408"/>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~3–4 wks*</a:t>
            </a:r>
            <a:endParaRPr lang="en-US" sz="900" dirty="0"/>
          </a:p>
        </p:txBody>
      </p:sp>
      <p:sp>
        <p:nvSpPr>
          <p:cNvPr id="35" name="Text 33"/>
          <p:cNvSpPr txBox="1"/>
          <p:nvPr/>
        </p:nvSpPr>
        <p:spPr>
          <a:xfrm>
            <a:off x="3520440" y="5276088"/>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Subscription billing, Agent Actions metering, FinOps dashboard</a:t>
            </a:r>
            <a:endParaRPr lang="en-US" sz="970" dirty="0"/>
          </a:p>
        </p:txBody>
      </p:sp>
      <p:sp>
        <p:nvSpPr>
          <p:cNvPr id="36" name="Shape 34"/>
          <p:cNvSpPr/>
          <p:nvPr/>
        </p:nvSpPr>
        <p:spPr>
          <a:xfrm>
            <a:off x="457200" y="5916168"/>
            <a:ext cx="502920" cy="566928"/>
          </a:xfrm>
          <a:prstGeom prst="rect">
            <a:avLst/>
          </a:prstGeom>
          <a:solidFill>
            <a:srgbClr val="028090"/>
          </a:solidFill>
          <a:ln w="12700">
            <a:solidFill>
              <a:srgbClr val="028090"/>
            </a:solidFill>
            <a:prstDash val="solid"/>
          </a:ln>
        </p:spPr>
      </p:sp>
      <p:sp>
        <p:nvSpPr>
          <p:cNvPr id="37" name="Text 35"/>
          <p:cNvSpPr txBox="1"/>
          <p:nvPr/>
        </p:nvSpPr>
        <p:spPr>
          <a:xfrm>
            <a:off x="457200" y="5916168"/>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8" name="Text 36"/>
          <p:cNvSpPr txBox="1"/>
          <p:nvPr/>
        </p:nvSpPr>
        <p:spPr>
          <a:xfrm>
            <a:off x="1097280" y="5934456"/>
            <a:ext cx="233172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Scale &amp; Harden</a:t>
            </a:r>
            <a:endParaRPr lang="en-US" sz="1150" dirty="0"/>
          </a:p>
        </p:txBody>
      </p:sp>
      <p:sp>
        <p:nvSpPr>
          <p:cNvPr id="39" name="Text 37"/>
          <p:cNvSpPr txBox="1"/>
          <p:nvPr/>
        </p:nvSpPr>
        <p:spPr>
          <a:xfrm>
            <a:off x="1097280" y="6208776"/>
            <a:ext cx="233172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Ongoing</a:t>
            </a:r>
            <a:endParaRPr lang="en-US" sz="900" dirty="0"/>
          </a:p>
        </p:txBody>
      </p:sp>
      <p:sp>
        <p:nvSpPr>
          <p:cNvPr id="40" name="Text 38"/>
          <p:cNvSpPr txBox="1"/>
          <p:nvPr/>
        </p:nvSpPr>
        <p:spPr>
          <a:xfrm>
            <a:off x="3520440" y="5934456"/>
            <a:ext cx="8183880" cy="530352"/>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Load-test against real data, security/compliance review, observability</a:t>
            </a:r>
            <a:endParaRPr lang="en-US" sz="970" dirty="0"/>
          </a:p>
        </p:txBody>
      </p:sp>
      <p:sp>
        <p:nvSpPr>
          <p:cNvPr id="41" name="Text 39"/>
          <p:cNvSpPr txBox="1"/>
          <p:nvPr/>
        </p:nvSpPr>
        <p:spPr>
          <a:xfrm>
            <a:off x="457200" y="6620256"/>
            <a:ext cx="5486400" cy="27432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*Phase 5 overlaps Phase 4.</a:t>
            </a:r>
            <a:endParaRPr lang="en-US" sz="850" dirty="0"/>
          </a:p>
        </p:txBody>
      </p:sp>
      <p:sp>
        <p:nvSpPr>
          <p:cNvPr id="42" name="Text 40"/>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43" name="Text 41"/>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377440" cy="320040"/>
          </a:xfrm>
          <a:prstGeom prst="rect">
            <a:avLst/>
          </a:prstGeom>
          <a:solidFill>
            <a:srgbClr val="CADCFC"/>
          </a:solidFill>
          <a:ln w="12700">
            <a:solidFill>
              <a:srgbClr val="CADCFC"/>
            </a:solidFill>
            <a:prstDash val="solid"/>
          </a:ln>
        </p:spPr>
      </p:sp>
      <p:sp>
        <p:nvSpPr>
          <p:cNvPr id="3" name="Text 1"/>
          <p:cNvSpPr txBox="1"/>
          <p:nvPr/>
        </p:nvSpPr>
        <p:spPr>
          <a:xfrm>
            <a:off x="457200" y="411480"/>
            <a:ext cx="2377440" cy="32004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ROADMAP</a:t>
            </a:r>
            <a:endParaRPr lang="en-US" sz="1100" dirty="0"/>
          </a:p>
        </p:txBody>
      </p:sp>
      <p:sp>
        <p:nvSpPr>
          <p:cNvPr id="4" name="Text 2"/>
          <p:cNvSpPr txBox="1"/>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Hard Gates Between Phases</a:t>
            </a:r>
            <a:endParaRPr lang="en-US" sz="2800" dirty="0"/>
          </a:p>
        </p:txBody>
      </p:sp>
      <p:sp>
        <p:nvSpPr>
          <p:cNvPr id="5" name="Shape 3"/>
          <p:cNvSpPr/>
          <p:nvPr/>
        </p:nvSpPr>
        <p:spPr>
          <a:xfrm>
            <a:off x="457200" y="1920240"/>
            <a:ext cx="82296" cy="960120"/>
          </a:xfrm>
          <a:prstGeom prst="rect">
            <a:avLst/>
          </a:prstGeom>
          <a:solidFill>
            <a:srgbClr val="B85042"/>
          </a:solidFill>
          <a:ln w="12700">
            <a:solidFill>
              <a:srgbClr val="B85042"/>
            </a:solidFill>
            <a:prstDash val="solid"/>
          </a:ln>
        </p:spPr>
      </p:sp>
      <p:sp>
        <p:nvSpPr>
          <p:cNvPr id="6" name="Text 4"/>
          <p:cNvSpPr txBox="1"/>
          <p:nvPr/>
        </p:nvSpPr>
        <p:spPr>
          <a:xfrm>
            <a:off x="685800" y="1920240"/>
            <a:ext cx="2194560" cy="9144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Phase 1 → 2</a:t>
            </a:r>
            <a:endParaRPr lang="en-US" sz="1400" dirty="0"/>
          </a:p>
        </p:txBody>
      </p:sp>
      <p:sp>
        <p:nvSpPr>
          <p:cNvPr id="7" name="Text 5"/>
          <p:cNvSpPr txBox="1"/>
          <p:nvPr/>
        </p:nvSpPr>
        <p:spPr>
          <a:xfrm>
            <a:off x="2926080" y="1920240"/>
            <a:ext cx="8778240" cy="914400"/>
          </a:xfrm>
          <a:prstGeom prst="rect">
            <a:avLst/>
          </a:prstGeom>
          <a:noFill/>
          <a:ln/>
        </p:spPr>
        <p:txBody>
          <a:bodyPr wrap="square" lIns="0" tIns="0" rIns="0" bIns="0" rtlCol="0" anchor="ctr"/>
          <a:lstStyle/>
          <a:p>
            <a:pPr indent="0" marL="0">
              <a:lnSpc>
                <a:spcPct val="125000"/>
              </a:lnSpc>
              <a:buNone/>
            </a:pPr>
            <a:r>
              <a:rPr lang="en-US" sz="1100" dirty="0">
                <a:solidFill>
                  <a:srgbClr val="2B2B2B"/>
                </a:solidFill>
                <a:latin typeface="Calibri" pitchFamily="34" charset="0"/>
                <a:ea typeface="Calibri" pitchFamily="34" charset="-122"/>
                <a:cs typeface="Calibri" pitchFamily="34" charset="-120"/>
              </a:rPr>
              <a:t>Sub-200ms bid-execution latency, measured end-to-end — an infrastructure problem to solve now, not defer.</a:t>
            </a:r>
            <a:endParaRPr lang="en-US" sz="1100" dirty="0"/>
          </a:p>
        </p:txBody>
      </p:sp>
      <p:sp>
        <p:nvSpPr>
          <p:cNvPr id="8" name="Shape 6"/>
          <p:cNvSpPr/>
          <p:nvPr/>
        </p:nvSpPr>
        <p:spPr>
          <a:xfrm>
            <a:off x="457200" y="3063240"/>
            <a:ext cx="82296" cy="960120"/>
          </a:xfrm>
          <a:prstGeom prst="rect">
            <a:avLst/>
          </a:prstGeom>
          <a:solidFill>
            <a:srgbClr val="028090"/>
          </a:solidFill>
          <a:ln w="12700">
            <a:solidFill>
              <a:srgbClr val="028090"/>
            </a:solidFill>
            <a:prstDash val="solid"/>
          </a:ln>
        </p:spPr>
      </p:sp>
      <p:sp>
        <p:nvSpPr>
          <p:cNvPr id="9" name="Text 7"/>
          <p:cNvSpPr txBox="1"/>
          <p:nvPr/>
        </p:nvSpPr>
        <p:spPr>
          <a:xfrm>
            <a:off x="685800" y="3063240"/>
            <a:ext cx="2194560" cy="9144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Phase 2 → 3</a:t>
            </a:r>
            <a:endParaRPr lang="en-US" sz="1400" dirty="0"/>
          </a:p>
        </p:txBody>
      </p:sp>
      <p:sp>
        <p:nvSpPr>
          <p:cNvPr id="10" name="Text 8"/>
          <p:cNvSpPr txBox="1"/>
          <p:nvPr/>
        </p:nvSpPr>
        <p:spPr>
          <a:xfrm>
            <a:off x="2926080" y="3063240"/>
            <a:ext cx="8778240" cy="914400"/>
          </a:xfrm>
          <a:prstGeom prst="rect">
            <a:avLst/>
          </a:prstGeom>
          <a:noFill/>
          <a:ln/>
        </p:spPr>
        <p:txBody>
          <a:bodyPr wrap="square" lIns="0" tIns="0" rIns="0" bIns="0" rtlCol="0" anchor="ctr"/>
          <a:lstStyle/>
          <a:p>
            <a:pPr indent="0" marL="0">
              <a:lnSpc>
                <a:spcPct val="125000"/>
              </a:lnSpc>
              <a:buNone/>
            </a:pPr>
            <a:r>
              <a:rPr lang="en-US" sz="1100" dirty="0">
                <a:solidFill>
                  <a:srgbClr val="2B2B2B"/>
                </a:solidFill>
                <a:latin typeface="Calibri" pitchFamily="34" charset="0"/>
                <a:ea typeface="Calibri" pitchFamily="34" charset="-122"/>
                <a:cs typeface="Calibri" pitchFamily="34" charset="-120"/>
              </a:rPr>
              <a:t>A/B test shows the LLM bidder beating the naive baseline — the platform's core value-proposition test.</a:t>
            </a:r>
            <a:endParaRPr lang="en-US" sz="1100" dirty="0"/>
          </a:p>
        </p:txBody>
      </p:sp>
      <p:sp>
        <p:nvSpPr>
          <p:cNvPr id="11" name="Shape 9"/>
          <p:cNvSpPr/>
          <p:nvPr/>
        </p:nvSpPr>
        <p:spPr>
          <a:xfrm>
            <a:off x="457200" y="4206240"/>
            <a:ext cx="82296" cy="960120"/>
          </a:xfrm>
          <a:prstGeom prst="rect">
            <a:avLst/>
          </a:prstGeom>
          <a:solidFill>
            <a:srgbClr val="6D2E46"/>
          </a:solidFill>
          <a:ln w="12700">
            <a:solidFill>
              <a:srgbClr val="6D2E46"/>
            </a:solidFill>
            <a:prstDash val="solid"/>
          </a:ln>
        </p:spPr>
      </p:sp>
      <p:sp>
        <p:nvSpPr>
          <p:cNvPr id="12" name="Text 10"/>
          <p:cNvSpPr txBox="1"/>
          <p:nvPr/>
        </p:nvSpPr>
        <p:spPr>
          <a:xfrm>
            <a:off x="685800" y="4206240"/>
            <a:ext cx="2194560" cy="9144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Phase 3 → 4</a:t>
            </a:r>
            <a:endParaRPr lang="en-US" sz="1400" dirty="0"/>
          </a:p>
        </p:txBody>
      </p:sp>
      <p:sp>
        <p:nvSpPr>
          <p:cNvPr id="13" name="Text 11"/>
          <p:cNvSpPr txBox="1"/>
          <p:nvPr/>
        </p:nvSpPr>
        <p:spPr>
          <a:xfrm>
            <a:off x="2926080" y="4206240"/>
            <a:ext cx="8778240" cy="914400"/>
          </a:xfrm>
          <a:prstGeom prst="rect">
            <a:avLst/>
          </a:prstGeom>
          <a:noFill/>
          <a:ln/>
        </p:spPr>
        <p:txBody>
          <a:bodyPr wrap="square" lIns="0" tIns="0" rIns="0" bIns="0" rtlCol="0" anchor="ctr"/>
          <a:lstStyle/>
          <a:p>
            <a:pPr indent="0" marL="0">
              <a:lnSpc>
                <a:spcPct val="125000"/>
              </a:lnSpc>
              <a:buNone/>
            </a:pPr>
            <a:r>
              <a:rPr lang="en-US" sz="1100" dirty="0">
                <a:solidFill>
                  <a:srgbClr val="2B2B2B"/>
                </a:solidFill>
                <a:latin typeface="Calibri" pitchFamily="34" charset="0"/>
                <a:ea typeface="Calibri" pitchFamily="34" charset="-122"/>
                <a:cs typeface="Calibri" pitchFamily="34" charset="-120"/>
              </a:rPr>
              <a:t>Cross-channel session continuity holds with zero state loss; reputation tiers actually gate eligibility.</a:t>
            </a:r>
            <a:endParaRPr lang="en-US" sz="1100" dirty="0"/>
          </a:p>
        </p:txBody>
      </p:sp>
      <p:sp>
        <p:nvSpPr>
          <p:cNvPr id="14" name="Shape 12"/>
          <p:cNvSpPr/>
          <p:nvPr/>
        </p:nvSpPr>
        <p:spPr>
          <a:xfrm>
            <a:off x="457200" y="5440680"/>
            <a:ext cx="11247120" cy="1143000"/>
          </a:xfrm>
          <a:prstGeom prst="rect">
            <a:avLst/>
          </a:prstGeom>
          <a:solidFill>
            <a:srgbClr val="FDF0E6"/>
          </a:solidFill>
          <a:ln w="19050">
            <a:solidFill>
              <a:srgbClr val="B85042"/>
            </a:solidFill>
            <a:prstDash val="solid"/>
          </a:ln>
        </p:spPr>
      </p:sp>
      <p:sp>
        <p:nvSpPr>
          <p:cNvPr id="15" name="Text 13"/>
          <p:cNvSpPr txBox="1"/>
          <p:nvPr/>
        </p:nvSpPr>
        <p:spPr>
          <a:xfrm>
            <a:off x="640080" y="5559552"/>
            <a:ext cx="10881360" cy="320040"/>
          </a:xfrm>
          <a:prstGeom prst="rect">
            <a:avLst/>
          </a:prstGeom>
          <a:noFill/>
          <a:ln/>
        </p:spPr>
        <p:txBody>
          <a:bodyPr wrap="square" lIns="0" tIns="0" rIns="0" bIns="0"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The one sequencing rule to protect:</a:t>
            </a:r>
            <a:endParaRPr lang="en-US" sz="1200" dirty="0"/>
          </a:p>
        </p:txBody>
      </p:sp>
      <p:sp>
        <p:nvSpPr>
          <p:cNvPr id="16" name="Text 14"/>
          <p:cNvSpPr txBox="1"/>
          <p:nvPr/>
        </p:nvSpPr>
        <p:spPr>
          <a:xfrm>
            <a:off x="640080" y="5870448"/>
            <a:ext cx="10881360" cy="640080"/>
          </a:xfrm>
          <a:prstGeom prst="rect">
            <a:avLst/>
          </a:prstGeom>
          <a:noFill/>
          <a:ln/>
        </p:spPr>
        <p:txBody>
          <a:bodyPr wrap="square" lIns="0" tIns="0" rIns="0" bIns="0" rtlCol="0" anchor="ctr"/>
          <a:lstStyle/>
          <a:p>
            <a:pPr indent="0" marL="0">
              <a:lnSpc>
                <a:spcPct val="125000"/>
              </a:lnSpc>
              <a:buNone/>
            </a:pPr>
            <a:r>
              <a:rPr lang="en-US" sz="1030" i="1" dirty="0">
                <a:solidFill>
                  <a:srgbClr val="B85042"/>
                </a:solidFill>
                <a:latin typeface="Calibri" pitchFamily="34" charset="0"/>
                <a:ea typeface="Calibri" pitchFamily="34" charset="-122"/>
                <a:cs typeface="Calibri" pitchFamily="34" charset="-120"/>
              </a:rPr>
              <a:t>Don't let Phase 2's LLM work start until Phase 1's latency numbers are in hand. If the Execution Engine can't hit its target, that's an architecture-level problem that changes what the LLM even needs to produce — building strategy against unvalidated execution risks redoing both.</a:t>
            </a:r>
            <a:endParaRPr lang="en-US" sz="1030" dirty="0"/>
          </a:p>
        </p:txBody>
      </p:sp>
      <p:sp>
        <p:nvSpPr>
          <p:cNvPr id="17" name="Text 15"/>
          <p:cNvSpPr txBox="1"/>
          <p:nvPr/>
        </p:nvSpPr>
        <p:spPr>
          <a:xfrm>
            <a:off x="36576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KenyaBidder — AI Auction Matchmaking Ecosystem</a:t>
            </a:r>
            <a:endParaRPr lang="en-US" sz="900" dirty="0"/>
          </a:p>
        </p:txBody>
      </p:sp>
      <p:sp>
        <p:nvSpPr>
          <p:cNvPr id="18" name="Text 16"/>
          <p:cNvSpPr txBox="1"/>
          <p:nvPr/>
        </p:nvSpPr>
        <p:spPr>
          <a:xfrm>
            <a:off x="9052560" y="6492240"/>
            <a:ext cx="2743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p:spPr>
      </p:sp>
      <p:sp>
        <p:nvSpPr>
          <p:cNvPr id="3" name="Text 1"/>
          <p:cNvSpPr txBox="1"/>
          <p:nvPr/>
        </p:nvSpPr>
        <p:spPr>
          <a:xfrm>
            <a:off x="731520" y="2286000"/>
            <a:ext cx="105156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 Payment Module — By Design, Not By Omission</a:t>
            </a:r>
            <a:endParaRPr lang="en-US" sz="3000" dirty="0"/>
          </a:p>
        </p:txBody>
      </p:sp>
      <p:sp>
        <p:nvSpPr>
          <p:cNvPr id="4" name="Text 2"/>
          <p:cNvSpPr txBox="1"/>
          <p:nvPr/>
        </p:nvSpPr>
        <p:spPr>
          <a:xfrm>
            <a:off x="777240" y="3291840"/>
            <a:ext cx="10058400" cy="1188720"/>
          </a:xfrm>
          <a:prstGeom prst="rect">
            <a:avLst/>
          </a:prstGeom>
          <a:noFill/>
          <a:ln/>
        </p:spPr>
        <p:txBody>
          <a:bodyPr wrap="square" lIns="0" tIns="0" rIns="0" bIns="0" rtlCol="0" anchor="ctr"/>
          <a:lstStyle/>
          <a:p>
            <a:pPr indent="0" marL="0">
              <a:lnSpc>
                <a:spcPct val="135000"/>
              </a:lnSpc>
              <a:buNone/>
            </a:pPr>
            <a:r>
              <a:rPr lang="en-US" sz="1400" dirty="0">
                <a:solidFill>
                  <a:srgbClr val="CADCFC"/>
                </a:solidFill>
                <a:latin typeface="Calibri" pitchFamily="34" charset="0"/>
                <a:ea typeface="Calibri" pitchFamily="34" charset="-122"/>
                <a:cs typeface="Calibri" pitchFamily="34" charset="-120"/>
              </a:rPr>
              <a:t>This prototype validates the hardest, most novel part of the idea — whether agent-driven auction strategy produces better outcomes — without needing payment infrastructure before that question is answered. Buyers and sellers settle directly; the platform's job is to find them the right match, fast.</a:t>
            </a:r>
            <a:endParaRPr lang="en-US" sz="1400" dirty="0"/>
          </a:p>
        </p:txBody>
      </p:sp>
      <p:sp>
        <p:nvSpPr>
          <p:cNvPr id="5" name="Text 3"/>
          <p:cNvSpPr txBox="1"/>
          <p:nvPr/>
        </p:nvSpPr>
        <p:spPr>
          <a:xfrm>
            <a:off x="777240" y="4937760"/>
            <a:ext cx="10058400" cy="457200"/>
          </a:xfrm>
          <a:prstGeom prst="rect">
            <a:avLst/>
          </a:prstGeom>
          <a:noFill/>
          <a:ln/>
        </p:spPr>
        <p:txBody>
          <a:bodyPr wrap="square" lIns="0" tIns="0" rIns="0" bIns="0" rtlCol="0" anchor="ctr"/>
          <a:lstStyle/>
          <a:p>
            <a:pPr indent="0" marL="0">
              <a:buNone/>
            </a:pPr>
            <a:r>
              <a:rPr lang="en-US" sz="1200" i="1" dirty="0">
                <a:solidFill>
                  <a:srgbClr val="9FB3E8"/>
                </a:solidFill>
                <a:latin typeface="Calibri" pitchFamily="34" charset="0"/>
                <a:ea typeface="Calibri" pitchFamily="34" charset="-122"/>
                <a:cs typeface="Calibri" pitchFamily="34" charset="-120"/>
              </a:rPr>
              <a:t>Next: Phase 0 foundations, then Phase 1's hard latency gate before any LLM work begins.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2026-09-12T09:30:11Z</dcterms:created>
  <dcterms:modified xsi:type="dcterms:W3CDTF">2026-09-12T09:30:11Z</dcterms:modified>
</cp:coreProperties>
</file>